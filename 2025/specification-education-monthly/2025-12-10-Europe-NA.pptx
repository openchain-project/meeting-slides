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9"/>
  </p:notesMasterIdLst>
  <p:sldIdLst>
    <p:sldId id="771" r:id="rId2"/>
    <p:sldId id="772" r:id="rId3"/>
    <p:sldId id="773" r:id="rId4"/>
    <p:sldId id="774" r:id="rId5"/>
    <p:sldId id="776" r:id="rId6"/>
    <p:sldId id="777" r:id="rId7"/>
    <p:sldId id="778" r:id="rId8"/>
    <p:sldId id="779" r:id="rId9"/>
    <p:sldId id="787" r:id="rId10"/>
    <p:sldId id="788" r:id="rId11"/>
    <p:sldId id="782" r:id="rId12"/>
    <p:sldId id="783" r:id="rId13"/>
    <p:sldId id="789" r:id="rId14"/>
    <p:sldId id="784" r:id="rId15"/>
    <p:sldId id="790" r:id="rId16"/>
    <p:sldId id="785" r:id="rId17"/>
    <p:sldId id="786" r:id="rId18"/>
  </p:sldIdLst>
  <p:sldSz cx="9144000" cy="5143500" type="screen16x9"/>
  <p:notesSz cx="6858000" cy="9144000"/>
  <p:embeddedFontLst>
    <p:embeddedFont>
      <p:font typeface="Open Sans Medium" pitchFamily="2" charset="0"/>
      <p:regular r:id="rId20"/>
      <p:bold r:id="rId21"/>
      <p:italic r:id="rId22"/>
      <p:boldItalic r:id="rId23"/>
    </p:embeddedFont>
    <p:embeddedFont>
      <p:font typeface="Roboto" panose="02000000000000000000" pitchFamily="2" charset="0"/>
      <p:regular r:id="rId24"/>
      <p:bold r:id="rId25"/>
      <p:italic r:id="rId26"/>
      <p:boldItalic r:id="rId27"/>
    </p:embeddedFont>
    <p:embeddedFont>
      <p:font typeface="Roboto Slab Light" pitchFamily="2"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41"/>
    <p:restoredTop sz="96301"/>
  </p:normalViewPr>
  <p:slideViewPr>
    <p:cSldViewPr snapToGrid="0">
      <p:cViewPr varScale="1">
        <p:scale>
          <a:sx n="163" d="100"/>
          <a:sy n="163" d="100"/>
        </p:scale>
        <p:origin x="600"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OpenChain-Project/Reference-Material/blob/master/OpenChain-Training/en/Online-Training-Courses/LFC193%20Course%20Content/Introduction%20to%20Open%20Source%20License%20Compliance%20Management%20(LFC193).md"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25233F98-7C54-B8E2-DCE8-93BDCA17ADE4}"/>
            </a:ext>
          </a:extLst>
        </p:cNvPr>
        <p:cNvGrpSpPr/>
        <p:nvPr/>
      </p:nvGrpSpPr>
      <p:grpSpPr>
        <a:xfrm>
          <a:off x="0" y="0"/>
          <a:ext cx="0" cy="0"/>
          <a:chOff x="0" y="0"/>
          <a:chExt cx="0" cy="0"/>
        </a:xfrm>
      </p:grpSpPr>
      <p:sp>
        <p:nvSpPr>
          <p:cNvPr id="119" name="Google Shape;119;g144aaa0767c_0_69:notes">
            <a:extLst>
              <a:ext uri="{FF2B5EF4-FFF2-40B4-BE49-F238E27FC236}">
                <a16:creationId xmlns:a16="http://schemas.microsoft.com/office/drawing/2014/main" id="{041D6186-2E4A-E68C-E241-6FEF2EFD34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44aaa0767c_0_69:notes">
            <a:extLst>
              <a:ext uri="{FF2B5EF4-FFF2-40B4-BE49-F238E27FC236}">
                <a16:creationId xmlns:a16="http://schemas.microsoft.com/office/drawing/2014/main" id="{D3F74F9D-341D-6B18-2245-74E16C05F3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9727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BD371B81-5B21-F16B-5213-7CB9382CC787}"/>
            </a:ext>
          </a:extLst>
        </p:cNvPr>
        <p:cNvGrpSpPr/>
        <p:nvPr/>
      </p:nvGrpSpPr>
      <p:grpSpPr>
        <a:xfrm>
          <a:off x="0" y="0"/>
          <a:ext cx="0" cy="0"/>
          <a:chOff x="0" y="0"/>
          <a:chExt cx="0" cy="0"/>
        </a:xfrm>
      </p:grpSpPr>
      <p:sp>
        <p:nvSpPr>
          <p:cNvPr id="154" name="Google Shape;154;g146cbe31ecc_0_86:notes">
            <a:extLst>
              <a:ext uri="{FF2B5EF4-FFF2-40B4-BE49-F238E27FC236}">
                <a16:creationId xmlns:a16="http://schemas.microsoft.com/office/drawing/2014/main" id="{8EE7CBB2-8F96-A6A8-0081-8B8BB62CB5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a:extLst>
              <a:ext uri="{FF2B5EF4-FFF2-40B4-BE49-F238E27FC236}">
                <a16:creationId xmlns:a16="http://schemas.microsoft.com/office/drawing/2014/main" id="{5D7DFADF-C39C-9C97-B0CE-B56AB798E8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1388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90629331-A17F-E96F-A6D4-3A3C11A0A9EF}"/>
            </a:ext>
          </a:extLst>
        </p:cNvPr>
        <p:cNvGrpSpPr/>
        <p:nvPr/>
      </p:nvGrpSpPr>
      <p:grpSpPr>
        <a:xfrm>
          <a:off x="0" y="0"/>
          <a:ext cx="0" cy="0"/>
          <a:chOff x="0" y="0"/>
          <a:chExt cx="0" cy="0"/>
        </a:xfrm>
      </p:grpSpPr>
      <p:sp>
        <p:nvSpPr>
          <p:cNvPr id="154" name="Google Shape;154;g146cbe31ecc_0_86:notes">
            <a:extLst>
              <a:ext uri="{FF2B5EF4-FFF2-40B4-BE49-F238E27FC236}">
                <a16:creationId xmlns:a16="http://schemas.microsoft.com/office/drawing/2014/main" id="{53CAFE5C-8E77-C9D9-E8ED-DC718EF28D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a:extLst>
              <a:ext uri="{FF2B5EF4-FFF2-40B4-BE49-F238E27FC236}">
                <a16:creationId xmlns:a16="http://schemas.microsoft.com/office/drawing/2014/main" id="{79846D23-AAF6-C759-6781-25C052D6EE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27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0BFE5DDB-53EC-59AF-10C7-0AA5812D27AA}"/>
            </a:ext>
          </a:extLst>
        </p:cNvPr>
        <p:cNvGrpSpPr/>
        <p:nvPr/>
      </p:nvGrpSpPr>
      <p:grpSpPr>
        <a:xfrm>
          <a:off x="0" y="0"/>
          <a:ext cx="0" cy="0"/>
          <a:chOff x="0" y="0"/>
          <a:chExt cx="0" cy="0"/>
        </a:xfrm>
      </p:grpSpPr>
      <p:sp>
        <p:nvSpPr>
          <p:cNvPr id="142" name="Google Shape;142;g146cbe31ecc_0_96:notes">
            <a:extLst>
              <a:ext uri="{FF2B5EF4-FFF2-40B4-BE49-F238E27FC236}">
                <a16:creationId xmlns:a16="http://schemas.microsoft.com/office/drawing/2014/main" id="{5A16262B-4C0A-9761-14CB-9207E5CDEB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a:extLst>
              <a:ext uri="{FF2B5EF4-FFF2-40B4-BE49-F238E27FC236}">
                <a16:creationId xmlns:a16="http://schemas.microsoft.com/office/drawing/2014/main" id="{B72CF169-C36D-57EC-CB62-BE891E09E7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922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52EE9BE8-9078-B1BD-6A2E-206541838964}"/>
            </a:ext>
          </a:extLst>
        </p:cNvPr>
        <p:cNvGrpSpPr/>
        <p:nvPr/>
      </p:nvGrpSpPr>
      <p:grpSpPr>
        <a:xfrm>
          <a:off x="0" y="0"/>
          <a:ext cx="0" cy="0"/>
          <a:chOff x="0" y="0"/>
          <a:chExt cx="0" cy="0"/>
        </a:xfrm>
      </p:grpSpPr>
      <p:sp>
        <p:nvSpPr>
          <p:cNvPr id="142" name="Google Shape;142;g146cbe31ecc_0_96:notes">
            <a:extLst>
              <a:ext uri="{FF2B5EF4-FFF2-40B4-BE49-F238E27FC236}">
                <a16:creationId xmlns:a16="http://schemas.microsoft.com/office/drawing/2014/main" id="{2B5E4367-4FEE-49B5-6BC3-1E32DF93E3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a:extLst>
              <a:ext uri="{FF2B5EF4-FFF2-40B4-BE49-F238E27FC236}">
                <a16:creationId xmlns:a16="http://schemas.microsoft.com/office/drawing/2014/main" id="{261A3F94-C680-BE19-4818-7D2092DA59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0660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44aaa0767c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44aaa0767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2009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6008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hlinkClick r:id="rId3"/>
              </a:rPr>
              <a:t>Reference-Material/OpenChain-Training/</a:t>
            </a:r>
            <a:r>
              <a:rPr lang="en-GB" dirty="0" err="1">
                <a:hlinkClick r:id="rId3"/>
              </a:rPr>
              <a:t>en</a:t>
            </a:r>
            <a:r>
              <a:rPr lang="en-GB" dirty="0">
                <a:hlinkClick r:id="rId3"/>
              </a:rPr>
              <a:t>/Online-Training-Courses/LFC193 Course Content/Introduction to Open Source License Compliance Management (LFC193).md at master · OpenChain-Project/Reference-Material</a:t>
            </a:r>
            <a:endParaRPr lang="en-GB" dirty="0"/>
          </a:p>
          <a:p>
            <a:r>
              <a:rPr lang="en-US" sz="1100" dirty="0"/>
              <a:t>https://github.com/OpenChain-Project/Reference-Material/issues/130</a:t>
            </a:r>
          </a:p>
          <a:p>
            <a:pPr marL="158750" indent="0">
              <a:buNone/>
            </a:pPr>
            <a:endParaRPr lang="en-GB" dirty="0"/>
          </a:p>
          <a:p>
            <a:endParaRPr lang="en-GB" dirty="0"/>
          </a:p>
        </p:txBody>
      </p:sp>
    </p:spTree>
    <p:extLst>
      <p:ext uri="{BB962C8B-B14F-4D97-AF65-F5344CB8AC3E}">
        <p14:creationId xmlns:p14="http://schemas.microsoft.com/office/powerpoint/2010/main" val="958354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https://github.com/OpenChain-Project/Reference-Material/tree/master/OpenChain-Training/en/Online-Training-Courses/LFC194%20Course%20Content</a:t>
            </a:r>
          </a:p>
          <a:p>
            <a:endParaRPr lang="en-GB" dirty="0"/>
          </a:p>
        </p:txBody>
      </p:sp>
    </p:spTree>
    <p:extLst>
      <p:ext uri="{BB962C8B-B14F-4D97-AF65-F5344CB8AC3E}">
        <p14:creationId xmlns:p14="http://schemas.microsoft.com/office/powerpoint/2010/main" val="3444489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62914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3051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44aaa0767c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44aaa0767c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2" y="412830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7"/>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53" name="Google Shape;53;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54" name="Google Shape;54;p7"/>
          <p:cNvPicPr preferRelativeResize="0"/>
          <p:nvPr/>
        </p:nvPicPr>
        <p:blipFill>
          <a:blip r:embed="rId2">
            <a:alphaModFix/>
          </a:blip>
          <a:stretch>
            <a:fillRect/>
          </a:stretch>
        </p:blipFill>
        <p:spPr>
          <a:xfrm>
            <a:off x="8128800" y="0"/>
            <a:ext cx="1015200" cy="1007953"/>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5572981" y="3566823"/>
            <a:ext cx="2641600" cy="14097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8432941" y="4431167"/>
            <a:ext cx="724200" cy="72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9"/>
          <p:cNvSpPr/>
          <p:nvPr/>
        </p:nvSpPr>
        <p:spPr>
          <a:xfrm rot="10800000">
            <a:off x="7701526" y="4431200"/>
            <a:ext cx="731400" cy="730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4" name="Google Shape;64;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9"/>
          <p:cNvSpPr/>
          <p:nvPr/>
        </p:nvSpPr>
        <p:spPr>
          <a:xfrm>
            <a:off x="8418600" y="0"/>
            <a:ext cx="725400" cy="725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67" name="Google Shape;67;p9"/>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315843" y="4618434"/>
            <a:ext cx="673323" cy="38538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
        <p:cNvGrpSpPr/>
        <p:nvPr/>
      </p:nvGrpSpPr>
      <p:grpSpPr>
        <a:xfrm>
          <a:off x="0" y="0"/>
          <a:ext cx="0" cy="0"/>
          <a:chOff x="0" y="0"/>
          <a:chExt cx="0" cy="0"/>
        </a:xfrm>
      </p:grpSpPr>
      <p:sp>
        <p:nvSpPr>
          <p:cNvPr id="90" name="Google Shape;90;p1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174C6D7-FF31-21CE-C315-79ECE561E094}"/>
              </a:ext>
            </a:extLst>
          </p:cNvPr>
          <p:cNvPicPr>
            <a:picLocks noChangeAspect="1"/>
          </p:cNvPicPr>
          <p:nvPr userDrawn="1"/>
        </p:nvPicPr>
        <p:blipFill>
          <a:blip r:embed="rId2"/>
          <a:stretch>
            <a:fillRect/>
          </a:stretch>
        </p:blipFill>
        <p:spPr>
          <a:xfrm>
            <a:off x="5572981" y="3566823"/>
            <a:ext cx="2641600" cy="14097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sp>
        <p:nvSpPr>
          <p:cNvPr id="100" name="Google Shape;100;p15"/>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01" name="Google Shape;101;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E238CB1-F8E6-F156-8915-1A35C64D23E6}"/>
              </a:ext>
            </a:extLst>
          </p:cNvPr>
          <p:cNvPicPr>
            <a:picLocks noChangeAspect="1"/>
          </p:cNvPicPr>
          <p:nvPr userDrawn="1"/>
        </p:nvPicPr>
        <p:blipFill>
          <a:blip r:embed="rId2"/>
          <a:stretch>
            <a:fillRect/>
          </a:stretch>
        </p:blipFill>
        <p:spPr>
          <a:xfrm>
            <a:off x="3251200" y="1866900"/>
            <a:ext cx="2641600" cy="14097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2"/>
        <p:cNvGrpSpPr/>
        <p:nvPr/>
      </p:nvGrpSpPr>
      <p:grpSpPr>
        <a:xfrm>
          <a:off x="0" y="0"/>
          <a:ext cx="0" cy="0"/>
          <a:chOff x="0" y="0"/>
          <a:chExt cx="0" cy="0"/>
        </a:xfrm>
      </p:grpSpPr>
      <p:sp>
        <p:nvSpPr>
          <p:cNvPr id="113" name="Google Shape;113;p1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785EA11A-2524-E462-0CB0-874BA7043CF4}"/>
              </a:ext>
            </a:extLst>
          </p:cNvPr>
          <p:cNvPicPr>
            <a:picLocks noChangeAspect="1"/>
          </p:cNvPicPr>
          <p:nvPr userDrawn="1"/>
        </p:nvPicPr>
        <p:blipFill>
          <a:blip r:embed="rId2"/>
          <a:stretch>
            <a:fillRect/>
          </a:stretch>
        </p:blipFill>
        <p:spPr>
          <a:xfrm>
            <a:off x="5572981" y="3566823"/>
            <a:ext cx="2641600" cy="14097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Dark 1">
  <p:cSld name="Section Header Dark 1">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30" name="Google Shape;30;p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pic>
        <p:nvPicPr>
          <p:cNvPr id="31" name="Google Shape;31;p4"/>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32" name="Google Shape;32;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p:nvPr/>
        </p:nvSpPr>
        <p:spPr>
          <a:xfrm>
            <a:off x="8208900" y="0"/>
            <a:ext cx="935100" cy="935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34;p4"/>
          <p:cNvPicPr preferRelativeResize="0"/>
          <p:nvPr/>
        </p:nvPicPr>
        <p:blipFill>
          <a:blip r:embed="rId3">
            <a:alphaModFix/>
          </a:blip>
          <a:stretch>
            <a:fillRect/>
          </a:stretch>
        </p:blipFill>
        <p:spPr>
          <a:xfrm>
            <a:off x="7273800" y="3350"/>
            <a:ext cx="935100" cy="928411"/>
          </a:xfrm>
          <a:prstGeom prst="rect">
            <a:avLst/>
          </a:prstGeom>
          <a:noFill/>
          <a:ln>
            <a:noFill/>
          </a:ln>
        </p:spPr>
      </p:pic>
      <p:pic>
        <p:nvPicPr>
          <p:cNvPr id="35" name="Google Shape;35;p4"/>
          <p:cNvPicPr preferRelativeResize="0"/>
          <p:nvPr/>
        </p:nvPicPr>
        <p:blipFill>
          <a:blip r:embed="rId4">
            <a:alphaModFix/>
          </a:blip>
          <a:stretch>
            <a:fillRect/>
          </a:stretch>
        </p:blipFill>
        <p:spPr>
          <a:xfrm>
            <a:off x="705588" y="4235030"/>
            <a:ext cx="1194674" cy="3936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2284576" y="4122678"/>
            <a:ext cx="1080274" cy="618303"/>
          </a:xfrm>
          <a:prstGeom prst="rect">
            <a:avLst/>
          </a:prstGeom>
        </p:spPr>
      </p:pic>
      <p:pic>
        <p:nvPicPr>
          <p:cNvPr id="5" name="Graphic 4">
            <a:extLst>
              <a:ext uri="{FF2B5EF4-FFF2-40B4-BE49-F238E27FC236}">
                <a16:creationId xmlns:a16="http://schemas.microsoft.com/office/drawing/2014/main" id="{B988EA2B-C859-1A79-73FD-B64240BEBE0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8234" y="2825864"/>
            <a:ext cx="2660178" cy="2185147"/>
          </a:xfrm>
          <a:prstGeom prst="rect">
            <a:avLst/>
          </a:prstGeom>
        </p:spPr>
      </p:pic>
    </p:spTree>
    <p:extLst>
      <p:ext uri="{BB962C8B-B14F-4D97-AF65-F5344CB8AC3E}">
        <p14:creationId xmlns:p14="http://schemas.microsoft.com/office/powerpoint/2010/main" val="162919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311700" y="410000"/>
            <a:ext cx="66141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0" name="Google Shape;70;p10"/>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1" name="Google Shape;71;p10"/>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2" name="Google Shape;72;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grpSp>
        <p:nvGrpSpPr>
          <p:cNvPr id="73" name="Google Shape;73;p10"/>
          <p:cNvGrpSpPr/>
          <p:nvPr/>
        </p:nvGrpSpPr>
        <p:grpSpPr>
          <a:xfrm>
            <a:off x="6971838" y="-12"/>
            <a:ext cx="2174881" cy="1450030"/>
            <a:chOff x="6098378" y="5"/>
            <a:chExt cx="3045625" cy="2030570"/>
          </a:xfrm>
        </p:grpSpPr>
        <p:sp>
          <p:nvSpPr>
            <p:cNvPr id="74" name="Google Shape;74;p10"/>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10"/>
            <p:cNvSpPr/>
            <p:nvPr/>
          </p:nvSpPr>
          <p:spPr>
            <a:xfrm flipH="1">
              <a:off x="7113463" y="5"/>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10"/>
            <p:cNvSpPr/>
            <p:nvPr/>
          </p:nvSpPr>
          <p:spPr>
            <a:xfrm rot="10800000">
              <a:off x="6098378" y="97"/>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10"/>
            <p:cNvSpPr/>
            <p:nvPr/>
          </p:nvSpPr>
          <p:spPr>
            <a:xfrm rot="10800000">
              <a:off x="8128789" y="101537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78" name="Google Shape;78;p10"/>
          <p:cNvPicPr preferRelativeResize="0"/>
          <p:nvPr/>
        </p:nvPicPr>
        <p:blipFill>
          <a:blip r:embed="rId2">
            <a:alphaModFix/>
          </a:blip>
          <a:stretch>
            <a:fillRect/>
          </a:stretch>
        </p:blipFill>
        <p:spPr>
          <a:xfrm>
            <a:off x="8675950" y="0"/>
            <a:ext cx="470775" cy="470775"/>
          </a:xfrm>
          <a:prstGeom prst="rect">
            <a:avLst/>
          </a:prstGeom>
          <a:noFill/>
          <a:ln>
            <a:noFill/>
          </a:ln>
        </p:spPr>
      </p:pic>
      <p:pic>
        <p:nvPicPr>
          <p:cNvPr id="79" name="Google Shape;79;p10"/>
          <p:cNvPicPr preferRelativeResize="0"/>
          <p:nvPr/>
        </p:nvPicPr>
        <p:blipFill>
          <a:blip r:embed="rId3">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4C3F07AF-469B-D3CF-D9C7-4D2528542FA3}"/>
              </a:ext>
            </a:extLst>
          </p:cNvPr>
          <p:cNvPicPr>
            <a:picLocks noChangeAspect="1"/>
          </p:cNvPicPr>
          <p:nvPr userDrawn="1"/>
        </p:nvPicPr>
        <p:blipFill>
          <a:blip r:embed="rId4"/>
          <a:stretch>
            <a:fillRect/>
          </a:stretch>
        </p:blipFill>
        <p:spPr>
          <a:xfrm>
            <a:off x="1315843" y="4618434"/>
            <a:ext cx="673323" cy="385382"/>
          </a:xfrm>
          <a:prstGeom prst="rect">
            <a:avLst/>
          </a:prstGeom>
        </p:spPr>
      </p:pic>
    </p:spTree>
    <p:extLst>
      <p:ext uri="{BB962C8B-B14F-4D97-AF65-F5344CB8AC3E}">
        <p14:creationId xmlns:p14="http://schemas.microsoft.com/office/powerpoint/2010/main" val="1033043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3" r:id="rId1"/>
    <p:sldLayoutId id="2147483655" r:id="rId2"/>
    <p:sldLayoutId id="2147483659" r:id="rId3"/>
    <p:sldLayoutId id="2147483661" r:id="rId4"/>
    <p:sldLayoutId id="2147483663" r:id="rId5"/>
    <p:sldLayoutId id="2147483665" r:id="rId6"/>
    <p:sldLayoutId id="214748366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tinyurl.com/5692jxaa"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OpenChain-Project/Reference-Material/tree/master/OpenChain-Training/en/Online-Training-Courses/LFC194%20Course%20Conten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openchainproject.org/participat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9B7BEEEC-414F-F921-8C0B-DAEF378291B5}"/>
            </a:ext>
          </a:extLst>
        </p:cNvPr>
        <p:cNvGrpSpPr/>
        <p:nvPr/>
      </p:nvGrpSpPr>
      <p:grpSpPr>
        <a:xfrm>
          <a:off x="0" y="0"/>
          <a:ext cx="0" cy="0"/>
          <a:chOff x="0" y="0"/>
          <a:chExt cx="0" cy="0"/>
        </a:xfrm>
      </p:grpSpPr>
      <p:sp>
        <p:nvSpPr>
          <p:cNvPr id="122" name="Google Shape;122;p19">
            <a:extLst>
              <a:ext uri="{FF2B5EF4-FFF2-40B4-BE49-F238E27FC236}">
                <a16:creationId xmlns:a16="http://schemas.microsoft.com/office/drawing/2014/main" id="{350290EF-D637-4097-0484-2F3B91B71360}"/>
              </a:ext>
            </a:extLst>
          </p:cNvPr>
          <p:cNvSpPr txBox="1">
            <a:spLocks noGrp="1"/>
          </p:cNvSpPr>
          <p:nvPr>
            <p:ph type="ctrTitle"/>
          </p:nvPr>
        </p:nvSpPr>
        <p:spPr>
          <a:xfrm>
            <a:off x="625929" y="928204"/>
            <a:ext cx="8410433" cy="1894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OpenChain Monthly Meeting:</a:t>
            </a:r>
            <a:br>
              <a:rPr lang="en-US" dirty="0"/>
            </a:br>
            <a:r>
              <a:rPr lang="en-US" dirty="0"/>
              <a:t>Spec, Education + More</a:t>
            </a:r>
            <a:endParaRPr dirty="0"/>
          </a:p>
        </p:txBody>
      </p:sp>
      <p:sp>
        <p:nvSpPr>
          <p:cNvPr id="123" name="Google Shape;123;p19">
            <a:extLst>
              <a:ext uri="{FF2B5EF4-FFF2-40B4-BE49-F238E27FC236}">
                <a16:creationId xmlns:a16="http://schemas.microsoft.com/office/drawing/2014/main" id="{A63A8B1B-4C8C-870F-9421-DA410B1C2AC9}"/>
              </a:ext>
            </a:extLst>
          </p:cNvPr>
          <p:cNvSpPr txBox="1">
            <a:spLocks noGrp="1"/>
          </p:cNvSpPr>
          <p:nvPr>
            <p:ph type="subTitle" idx="1"/>
          </p:nvPr>
        </p:nvSpPr>
        <p:spPr>
          <a:xfrm>
            <a:off x="665674" y="2389804"/>
            <a:ext cx="8222100" cy="432900"/>
          </a:xfrm>
          <a:prstGeom prst="rect">
            <a:avLst/>
          </a:prstGeom>
        </p:spPr>
        <p:txBody>
          <a:bodyPr spcFirstLastPara="1" wrap="square" lIns="91425" tIns="91425" rIns="91425" bIns="91425" anchor="t" anchorCtr="0">
            <a:normAutofit fontScale="92500" lnSpcReduction="20000"/>
          </a:bodyPr>
          <a:lstStyle/>
          <a:p>
            <a:pPr marL="0" lvl="0" indent="0"/>
            <a:r>
              <a:rPr lang="en-US" dirty="0"/>
              <a:t>North America / Europe - 2025-</a:t>
            </a:r>
            <a:r>
              <a:rPr lang="en-US" dirty="0">
                <a:solidFill>
                  <a:schemeClr val="bg1"/>
                </a:solidFill>
              </a:rPr>
              <a:t>12</a:t>
            </a:r>
            <a:r>
              <a:rPr lang="en-US" dirty="0"/>
              <a:t>-10 @ 16:30 UTC UK; 10:30 CT US</a:t>
            </a:r>
            <a:endParaRPr dirty="0"/>
          </a:p>
        </p:txBody>
      </p:sp>
    </p:spTree>
    <p:extLst>
      <p:ext uri="{BB962C8B-B14F-4D97-AF65-F5344CB8AC3E}">
        <p14:creationId xmlns:p14="http://schemas.microsoft.com/office/powerpoint/2010/main" val="2520644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1FB7760A-A438-CF83-58B9-104D650B44D0}"/>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7A30E041-2553-6337-7E68-DDCF3A20E850}"/>
              </a:ext>
            </a:extLst>
          </p:cNvPr>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Anti-Trust Policy Notice</a:t>
            </a:r>
            <a:endParaRPr dirty="0"/>
          </a:p>
        </p:txBody>
      </p:sp>
      <p:sp>
        <p:nvSpPr>
          <p:cNvPr id="158" name="Google Shape;158;p25">
            <a:extLst>
              <a:ext uri="{FF2B5EF4-FFF2-40B4-BE49-F238E27FC236}">
                <a16:creationId xmlns:a16="http://schemas.microsoft.com/office/drawing/2014/main" id="{888CF8C5-3787-B0CC-C452-3AEA8E7E9D8F}"/>
              </a:ext>
            </a:extLst>
          </p:cNvPr>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fontScale="85000" lnSpcReduction="10000"/>
          </a:bodyPr>
          <a:lstStyle/>
          <a:p>
            <a:pPr marL="285750" indent="-285750">
              <a:spcAft>
                <a:spcPts val="1200"/>
              </a:spcAft>
            </a:pPr>
            <a:r>
              <a:rPr lang="en-US"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pPr marL="285750" indent="-285750">
              <a:spcAft>
                <a:spcPts val="1200"/>
              </a:spcAft>
            </a:pPr>
            <a:r>
              <a:rPr lang="en-US"/>
              <a:t>Examples </a:t>
            </a:r>
            <a:r>
              <a:rPr lang="en-US" dirty="0"/>
              <a:t>of types of actions that are prohibited at Linux Foundation meetings and in connection with Linux Foundation activities are described in the Linux Foundation Antitrust Policy available at http://</a:t>
            </a:r>
            <a:r>
              <a:rPr lang="en-US" dirty="0" err="1"/>
              <a:t>www.linuxfoundation.org</a:t>
            </a:r>
            <a:r>
              <a:rPr lang="en-US" dirty="0"/>
              <a:t>/antitrust-policy. If you have questions about these matters, please contact your company counsel, or if you are a member of the Linux Foundation, feel free to contact Andrew </a:t>
            </a:r>
            <a:r>
              <a:rPr lang="en-US" dirty="0" err="1"/>
              <a:t>Updegrove</a:t>
            </a:r>
            <a:r>
              <a:rPr lang="en-US" dirty="0"/>
              <a:t> of the firm of </a:t>
            </a:r>
            <a:r>
              <a:rPr lang="en-US" dirty="0" err="1"/>
              <a:t>Gesmer</a:t>
            </a:r>
            <a:r>
              <a:rPr lang="en-US" dirty="0"/>
              <a:t> </a:t>
            </a:r>
            <a:r>
              <a:rPr lang="en-US" dirty="0" err="1"/>
              <a:t>Updegrove</a:t>
            </a:r>
            <a:r>
              <a:rPr lang="en-US" dirty="0"/>
              <a:t> LLP, which provides legal counsel to the Linux Foundation.</a:t>
            </a:r>
          </a:p>
          <a:p>
            <a:pPr marL="0" lvl="0" indent="0" algn="l" rtl="0">
              <a:spcBef>
                <a:spcPts val="0"/>
              </a:spcBef>
              <a:spcAft>
                <a:spcPts val="1200"/>
              </a:spcAft>
              <a:buNone/>
            </a:pPr>
            <a:endParaRPr lang="en-US" dirty="0"/>
          </a:p>
          <a:p>
            <a:pPr marL="0" lvl="0" indent="0" algn="l" rtl="0">
              <a:spcBef>
                <a:spcPts val="0"/>
              </a:spcBef>
              <a:spcAft>
                <a:spcPts val="1200"/>
              </a:spcAft>
              <a:buNone/>
            </a:pPr>
            <a:endParaRPr dirty="0"/>
          </a:p>
        </p:txBody>
      </p:sp>
    </p:spTree>
    <p:extLst>
      <p:ext uri="{BB962C8B-B14F-4D97-AF65-F5344CB8AC3E}">
        <p14:creationId xmlns:p14="http://schemas.microsoft.com/office/powerpoint/2010/main" val="1223967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9B48FC86-A1B4-E438-A1F8-D3BC1E792783}"/>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85E02CB8-4AA3-CD52-A1C3-AFC55D9F36CB}"/>
              </a:ext>
            </a:extLst>
          </p:cNvPr>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Agenda</a:t>
            </a:r>
            <a:endParaRPr dirty="0"/>
          </a:p>
        </p:txBody>
      </p:sp>
      <p:sp>
        <p:nvSpPr>
          <p:cNvPr id="158" name="Google Shape;158;p25">
            <a:extLst>
              <a:ext uri="{FF2B5EF4-FFF2-40B4-BE49-F238E27FC236}">
                <a16:creationId xmlns:a16="http://schemas.microsoft.com/office/drawing/2014/main" id="{BB4CE212-D959-F666-8F64-603FBE19B24D}"/>
              </a:ext>
            </a:extLst>
          </p:cNvPr>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342900">
              <a:spcAft>
                <a:spcPts val="1200"/>
              </a:spcAft>
              <a:buSzPct val="100000"/>
              <a:buFont typeface="+mj-lt"/>
              <a:buAutoNum type="arabicPeriod"/>
            </a:pPr>
            <a:r>
              <a:rPr lang="en-US" dirty="0"/>
              <a:t>OpenChain Project News</a:t>
            </a:r>
          </a:p>
          <a:p>
            <a:pPr marL="342900">
              <a:spcAft>
                <a:spcPts val="1200"/>
              </a:spcAft>
              <a:buSzPct val="100000"/>
              <a:buFont typeface="+mj-lt"/>
              <a:buAutoNum type="arabicPeriod"/>
            </a:pPr>
            <a:r>
              <a:rPr lang="en-US" dirty="0"/>
              <a:t>Specification Work Group – Next steps in developing our ISO standards</a:t>
            </a:r>
          </a:p>
          <a:p>
            <a:pPr marL="342900">
              <a:spcAft>
                <a:spcPts val="1200"/>
              </a:spcAft>
              <a:buSzPct val="100000"/>
              <a:buFont typeface="+mj-lt"/>
              <a:buAutoNum type="arabicPeriod"/>
            </a:pPr>
            <a:r>
              <a:rPr lang="en-US" dirty="0"/>
              <a:t>Education Work Group – Continued work on training material</a:t>
            </a:r>
          </a:p>
          <a:p>
            <a:pPr marL="342900">
              <a:spcAft>
                <a:spcPts val="1200"/>
              </a:spcAft>
              <a:buSzPct val="100000"/>
              <a:buFont typeface="+mj-lt"/>
              <a:buAutoNum type="arabicPeriod"/>
            </a:pPr>
            <a:r>
              <a:rPr lang="en-US" dirty="0"/>
              <a:t>Any Other Business?</a:t>
            </a:r>
          </a:p>
        </p:txBody>
      </p:sp>
    </p:spTree>
    <p:extLst>
      <p:ext uri="{BB962C8B-B14F-4D97-AF65-F5344CB8AC3E}">
        <p14:creationId xmlns:p14="http://schemas.microsoft.com/office/powerpoint/2010/main" val="1230439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0A0571AB-4228-68E7-D9B8-CD992B0461E4}"/>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E0C342DE-DE73-E620-CBB2-205F3359C07F}"/>
              </a:ext>
            </a:extLst>
          </p:cNvPr>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OpenChain Project News</a:t>
            </a:r>
            <a:endParaRPr dirty="0"/>
          </a:p>
        </p:txBody>
      </p:sp>
    </p:spTree>
    <p:extLst>
      <p:ext uri="{BB962C8B-B14F-4D97-AF65-F5344CB8AC3E}">
        <p14:creationId xmlns:p14="http://schemas.microsoft.com/office/powerpoint/2010/main" val="138981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20218-BC54-7C72-D2B4-3601BA0B5191}"/>
              </a:ext>
            </a:extLst>
          </p:cNvPr>
          <p:cNvSpPr>
            <a:spLocks noGrp="1"/>
          </p:cNvSpPr>
          <p:nvPr>
            <p:ph type="title"/>
          </p:nvPr>
        </p:nvSpPr>
        <p:spPr/>
        <p:txBody>
          <a:bodyPr>
            <a:normAutofit fontScale="90000"/>
          </a:bodyPr>
          <a:lstStyle/>
          <a:p>
            <a:r>
              <a:rPr lang="en-JP" dirty="0"/>
              <a:t>Main News Item:</a:t>
            </a:r>
          </a:p>
        </p:txBody>
      </p:sp>
      <p:sp>
        <p:nvSpPr>
          <p:cNvPr id="4" name="Text Placeholder 3">
            <a:extLst>
              <a:ext uri="{FF2B5EF4-FFF2-40B4-BE49-F238E27FC236}">
                <a16:creationId xmlns:a16="http://schemas.microsoft.com/office/drawing/2014/main" id="{E7D31C37-2955-C1F7-F0B7-5699C962F044}"/>
              </a:ext>
            </a:extLst>
          </p:cNvPr>
          <p:cNvSpPr>
            <a:spLocks noGrp="1"/>
          </p:cNvSpPr>
          <p:nvPr>
            <p:ph type="body" idx="1"/>
          </p:nvPr>
        </p:nvSpPr>
        <p:spPr/>
        <p:txBody>
          <a:bodyPr/>
          <a:lstStyle/>
          <a:p>
            <a:r>
              <a:rPr lang="en-GB" dirty="0"/>
              <a:t>Our OpenChain General Manager Shane Coughlan is moving on in a planned management rotation within the Linux Foundation.  </a:t>
            </a:r>
          </a:p>
          <a:p>
            <a:endParaRPr lang="en-GB" dirty="0"/>
          </a:p>
          <a:p>
            <a:r>
              <a:rPr lang="en-GB" dirty="0"/>
              <a:t>We will miss him as his presence and leadership was largely instrumental to our work and will continue to shape our endeavours as we continue to improve the OpenChain portfolio of products.</a:t>
            </a:r>
          </a:p>
          <a:p>
            <a:endParaRPr lang="en-GB" dirty="0"/>
          </a:p>
          <a:p>
            <a:r>
              <a:rPr lang="en-GB" dirty="0"/>
              <a:t>You can read more about this rotation here: </a:t>
            </a:r>
            <a:br>
              <a:rPr lang="en-GB" dirty="0"/>
            </a:br>
            <a:r>
              <a:rPr lang="en-GB" dirty="0">
                <a:hlinkClick r:id="rId2"/>
              </a:rPr>
              <a:t>https://tinyurl.com/5692jxaa</a:t>
            </a:r>
            <a:r>
              <a:rPr lang="en-GB" dirty="0"/>
              <a:t> </a:t>
            </a:r>
            <a:endParaRPr lang="en-GB" sz="1100" dirty="0"/>
          </a:p>
        </p:txBody>
      </p:sp>
      <p:pic>
        <p:nvPicPr>
          <p:cNvPr id="5" name="Picture 4" descr="A qr code with black squares&#10;&#10;AI-generated content may be incorrect.">
            <a:extLst>
              <a:ext uri="{FF2B5EF4-FFF2-40B4-BE49-F238E27FC236}">
                <a16:creationId xmlns:a16="http://schemas.microsoft.com/office/drawing/2014/main" id="{7560C565-BF46-76D2-22AF-5F3FC2AAB026}"/>
              </a:ext>
            </a:extLst>
          </p:cNvPr>
          <p:cNvPicPr>
            <a:picLocks noChangeAspect="1"/>
          </p:cNvPicPr>
          <p:nvPr/>
        </p:nvPicPr>
        <p:blipFill>
          <a:blip r:embed="rId3"/>
          <a:stretch>
            <a:fillRect/>
          </a:stretch>
        </p:blipFill>
        <p:spPr>
          <a:xfrm>
            <a:off x="5571730" y="3391389"/>
            <a:ext cx="1752111" cy="1752111"/>
          </a:xfrm>
          <a:prstGeom prst="rect">
            <a:avLst/>
          </a:prstGeom>
        </p:spPr>
      </p:pic>
    </p:spTree>
    <p:extLst>
      <p:ext uri="{BB962C8B-B14F-4D97-AF65-F5344CB8AC3E}">
        <p14:creationId xmlns:p14="http://schemas.microsoft.com/office/powerpoint/2010/main" val="47861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0EE17C6-53A2-B920-3F80-6EB37341C9DF}"/>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94A3758D-64D1-FE35-AE0F-593D8CC9E704}"/>
              </a:ext>
            </a:extLst>
          </p:cNvPr>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Specification Work Group</a:t>
            </a:r>
            <a:endParaRPr dirty="0"/>
          </a:p>
        </p:txBody>
      </p:sp>
      <p:pic>
        <p:nvPicPr>
          <p:cNvPr id="2" name="Picture 1" descr="A person in a suit and tie&#10;&#10;AI-generated content may be incorrect.">
            <a:extLst>
              <a:ext uri="{FF2B5EF4-FFF2-40B4-BE49-F238E27FC236}">
                <a16:creationId xmlns:a16="http://schemas.microsoft.com/office/drawing/2014/main" id="{159D15C5-F612-45F3-9FA5-CFEC3B1C6601}"/>
              </a:ext>
            </a:extLst>
          </p:cNvPr>
          <p:cNvPicPr>
            <a:picLocks noChangeAspect="1"/>
          </p:cNvPicPr>
          <p:nvPr/>
        </p:nvPicPr>
        <p:blipFill>
          <a:blip r:embed="rId3"/>
          <a:stretch>
            <a:fillRect/>
          </a:stretch>
        </p:blipFill>
        <p:spPr>
          <a:xfrm>
            <a:off x="7931820" y="0"/>
            <a:ext cx="1212180" cy="1212180"/>
          </a:xfrm>
          <a:prstGeom prst="rect">
            <a:avLst/>
          </a:prstGeom>
        </p:spPr>
      </p:pic>
    </p:spTree>
    <p:extLst>
      <p:ext uri="{BB962C8B-B14F-4D97-AF65-F5344CB8AC3E}">
        <p14:creationId xmlns:p14="http://schemas.microsoft.com/office/powerpoint/2010/main" val="280221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311700" y="410000"/>
            <a:ext cx="7450972"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Sister Standards - Processes for Programs</a:t>
            </a:r>
            <a:endParaRPr dirty="0"/>
          </a:p>
        </p:txBody>
      </p:sp>
      <p:sp>
        <p:nvSpPr>
          <p:cNvPr id="7" name="Google Shape;151;p24">
            <a:extLst>
              <a:ext uri="{FF2B5EF4-FFF2-40B4-BE49-F238E27FC236}">
                <a16:creationId xmlns:a16="http://schemas.microsoft.com/office/drawing/2014/main" id="{301E483D-A115-2A3A-382C-DDEC6DB45752}"/>
              </a:ext>
            </a:extLst>
          </p:cNvPr>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b="1" dirty="0"/>
              <a:t>ISO/IEC 5230 (License Compliance)</a:t>
            </a:r>
          </a:p>
        </p:txBody>
      </p:sp>
      <p:sp>
        <p:nvSpPr>
          <p:cNvPr id="8" name="Google Shape;152;p24">
            <a:extLst>
              <a:ext uri="{FF2B5EF4-FFF2-40B4-BE49-F238E27FC236}">
                <a16:creationId xmlns:a16="http://schemas.microsoft.com/office/drawing/2014/main" id="{01CAEC07-C907-4C6B-EEBB-30682893BF4D}"/>
              </a:ext>
            </a:extLst>
          </p:cNvPr>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b="1" dirty="0"/>
              <a:t>ISO/IEC 18974 (Security Assurance)</a:t>
            </a:r>
          </a:p>
        </p:txBody>
      </p:sp>
      <p:sp>
        <p:nvSpPr>
          <p:cNvPr id="9" name="Google Shape;151;p24">
            <a:extLst>
              <a:ext uri="{FF2B5EF4-FFF2-40B4-BE49-F238E27FC236}">
                <a16:creationId xmlns:a16="http://schemas.microsoft.com/office/drawing/2014/main" id="{8FF4B1E6-F1B5-740A-02BD-A8FDB4BE8261}"/>
              </a:ext>
            </a:extLst>
          </p:cNvPr>
          <p:cNvSpPr txBox="1">
            <a:spLocks/>
          </p:cNvSpPr>
          <p:nvPr/>
        </p:nvSpPr>
        <p:spPr>
          <a:xfrm>
            <a:off x="2837026" y="2041280"/>
            <a:ext cx="3469947" cy="2721791"/>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1pPr>
            <a:lvl2pPr marL="914400" marR="0" lvl="1"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2pPr>
            <a:lvl3pPr marL="1371600" marR="0" lvl="2"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3pPr>
            <a:lvl4pPr marL="1828800" marR="0" lvl="3"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4pPr>
            <a:lvl5pPr marL="2286000" marR="0" lvl="4"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5pPr>
            <a:lvl6pPr marL="2743200" marR="0" lvl="5"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6pPr>
            <a:lvl7pPr marL="3200400" marR="0" lvl="6"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7pPr>
            <a:lvl8pPr marL="3657600" marR="0" lvl="7"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8pPr>
            <a:lvl9pPr marL="4114800" marR="0" lvl="8"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9pPr>
          </a:lstStyle>
          <a:p>
            <a:pPr marL="0" indent="0" algn="ctr">
              <a:spcAft>
                <a:spcPts val="1200"/>
              </a:spcAft>
              <a:buNone/>
            </a:pPr>
            <a:r>
              <a:rPr lang="en-US" b="1" i="1" dirty="0"/>
              <a:t>Flexible</a:t>
            </a:r>
            <a:r>
              <a:rPr lang="en-US" dirty="0"/>
              <a:t> program size</a:t>
            </a:r>
          </a:p>
          <a:p>
            <a:pPr marL="0" indent="0" algn="ctr">
              <a:spcAft>
                <a:spcPts val="1200"/>
              </a:spcAft>
              <a:buNone/>
            </a:pPr>
            <a:r>
              <a:rPr lang="en-US" dirty="0"/>
              <a:t>Covering:</a:t>
            </a:r>
          </a:p>
          <a:p>
            <a:pPr marL="285750" indent="-285750" algn="ctr">
              <a:spcAft>
                <a:spcPts val="1200"/>
              </a:spcAft>
            </a:pPr>
            <a:r>
              <a:rPr lang="en-US" dirty="0"/>
              <a:t>Inbound processes</a:t>
            </a:r>
          </a:p>
          <a:p>
            <a:pPr marL="285750" indent="-285750" algn="ctr">
              <a:spcAft>
                <a:spcPts val="1200"/>
              </a:spcAft>
            </a:pPr>
            <a:r>
              <a:rPr lang="en-US" dirty="0"/>
              <a:t>Internal processes</a:t>
            </a:r>
          </a:p>
          <a:p>
            <a:pPr marL="285750" indent="-285750" algn="ctr">
              <a:spcAft>
                <a:spcPts val="1200"/>
              </a:spcAft>
            </a:pPr>
            <a:r>
              <a:rPr lang="en-US" dirty="0"/>
              <a:t>Outbound processes</a:t>
            </a:r>
          </a:p>
          <a:p>
            <a:pPr marL="0" indent="0" algn="ctr">
              <a:spcAft>
                <a:spcPts val="1200"/>
              </a:spcAft>
              <a:buNone/>
            </a:pPr>
            <a:r>
              <a:rPr lang="en-US" dirty="0"/>
              <a:t>Standards about process </a:t>
            </a:r>
            <a:r>
              <a:rPr lang="en-US" b="1" i="1" dirty="0"/>
              <a:t>points</a:t>
            </a:r>
          </a:p>
          <a:p>
            <a:pPr marL="0" indent="0" algn="ctr">
              <a:spcAft>
                <a:spcPts val="1200"/>
              </a:spcAft>
              <a:buNone/>
            </a:pPr>
            <a:r>
              <a:rPr lang="en-US" dirty="0"/>
              <a:t>Not about process </a:t>
            </a:r>
            <a:r>
              <a:rPr lang="en-US" b="1" i="1" dirty="0"/>
              <a:t>content</a:t>
            </a:r>
          </a:p>
        </p:txBody>
      </p:sp>
      <p:pic>
        <p:nvPicPr>
          <p:cNvPr id="10" name="Picture 9" descr="A qr code with a few black squares&#10;&#10;Description automatically generated">
            <a:extLst>
              <a:ext uri="{FF2B5EF4-FFF2-40B4-BE49-F238E27FC236}">
                <a16:creationId xmlns:a16="http://schemas.microsoft.com/office/drawing/2014/main" id="{3F2056C9-2E32-9776-1981-CD6D73B509EC}"/>
              </a:ext>
            </a:extLst>
          </p:cNvPr>
          <p:cNvPicPr>
            <a:picLocks noChangeAspect="1"/>
          </p:cNvPicPr>
          <p:nvPr/>
        </p:nvPicPr>
        <p:blipFill>
          <a:blip r:embed="rId3"/>
          <a:stretch>
            <a:fillRect/>
          </a:stretch>
        </p:blipFill>
        <p:spPr>
          <a:xfrm>
            <a:off x="1120637" y="2197134"/>
            <a:ext cx="1716389" cy="1716389"/>
          </a:xfrm>
          <a:prstGeom prst="rect">
            <a:avLst/>
          </a:prstGeom>
        </p:spPr>
      </p:pic>
      <p:pic>
        <p:nvPicPr>
          <p:cNvPr id="11" name="Picture 10" descr="A qr code with a black and white background&#10;&#10;Description automatically generated">
            <a:extLst>
              <a:ext uri="{FF2B5EF4-FFF2-40B4-BE49-F238E27FC236}">
                <a16:creationId xmlns:a16="http://schemas.microsoft.com/office/drawing/2014/main" id="{0944199F-ECD1-5506-D4E7-CDA9E9CFE703}"/>
              </a:ext>
            </a:extLst>
          </p:cNvPr>
          <p:cNvPicPr>
            <a:picLocks noChangeAspect="1"/>
          </p:cNvPicPr>
          <p:nvPr/>
        </p:nvPicPr>
        <p:blipFill>
          <a:blip r:embed="rId4"/>
          <a:stretch>
            <a:fillRect/>
          </a:stretch>
        </p:blipFill>
        <p:spPr>
          <a:xfrm>
            <a:off x="6306973" y="2197134"/>
            <a:ext cx="1716389" cy="1716389"/>
          </a:xfrm>
          <a:prstGeom prst="rect">
            <a:avLst/>
          </a:prstGeom>
        </p:spPr>
      </p:pic>
      <p:pic>
        <p:nvPicPr>
          <p:cNvPr id="2" name="Picture 1" descr="A person in a suit and tie&#10;&#10;AI-generated content may be incorrect.">
            <a:extLst>
              <a:ext uri="{FF2B5EF4-FFF2-40B4-BE49-F238E27FC236}">
                <a16:creationId xmlns:a16="http://schemas.microsoft.com/office/drawing/2014/main" id="{A7FE0088-86E7-CBF9-635A-FE14EA2C9291}"/>
              </a:ext>
            </a:extLst>
          </p:cNvPr>
          <p:cNvPicPr>
            <a:picLocks noChangeAspect="1"/>
          </p:cNvPicPr>
          <p:nvPr/>
        </p:nvPicPr>
        <p:blipFill>
          <a:blip r:embed="rId5"/>
          <a:stretch>
            <a:fillRect/>
          </a:stretch>
        </p:blipFill>
        <p:spPr>
          <a:xfrm>
            <a:off x="7931820" y="0"/>
            <a:ext cx="1212180" cy="1212180"/>
          </a:xfrm>
          <a:prstGeom prst="rect">
            <a:avLst/>
          </a:prstGeom>
        </p:spPr>
      </p:pic>
      <p:sp>
        <p:nvSpPr>
          <p:cNvPr id="3" name="TextBox 2">
            <a:extLst>
              <a:ext uri="{FF2B5EF4-FFF2-40B4-BE49-F238E27FC236}">
                <a16:creationId xmlns:a16="http://schemas.microsoft.com/office/drawing/2014/main" id="{126628C2-65F3-0863-CFA4-F3F4B764E7EA}"/>
              </a:ext>
            </a:extLst>
          </p:cNvPr>
          <p:cNvSpPr txBox="1"/>
          <p:nvPr/>
        </p:nvSpPr>
        <p:spPr>
          <a:xfrm>
            <a:off x="6218433" y="3931318"/>
            <a:ext cx="1885453" cy="307777"/>
          </a:xfrm>
          <a:prstGeom prst="rect">
            <a:avLst/>
          </a:prstGeom>
          <a:noFill/>
        </p:spPr>
        <p:txBody>
          <a:bodyPr wrap="none" rtlCol="0">
            <a:spAutoFit/>
          </a:bodyPr>
          <a:lstStyle/>
          <a:p>
            <a:r>
              <a:rPr lang="en-US" dirty="0"/>
              <a:t>http://</a:t>
            </a:r>
            <a:r>
              <a:rPr lang="en-US" dirty="0" err="1"/>
              <a:t>bit.ly</a:t>
            </a:r>
            <a:r>
              <a:rPr lang="en-US" dirty="0"/>
              <a:t>/4mbmOd8</a:t>
            </a:r>
            <a:endParaRPr lang="en-JP" dirty="0"/>
          </a:p>
        </p:txBody>
      </p:sp>
      <p:sp>
        <p:nvSpPr>
          <p:cNvPr id="4" name="TextBox 3">
            <a:extLst>
              <a:ext uri="{FF2B5EF4-FFF2-40B4-BE49-F238E27FC236}">
                <a16:creationId xmlns:a16="http://schemas.microsoft.com/office/drawing/2014/main" id="{E9F3EBC2-FBD2-320D-4372-A9B2669E568F}"/>
              </a:ext>
            </a:extLst>
          </p:cNvPr>
          <p:cNvSpPr txBox="1"/>
          <p:nvPr/>
        </p:nvSpPr>
        <p:spPr>
          <a:xfrm>
            <a:off x="1040113" y="3933471"/>
            <a:ext cx="1877437" cy="307777"/>
          </a:xfrm>
          <a:prstGeom prst="rect">
            <a:avLst/>
          </a:prstGeom>
          <a:noFill/>
        </p:spPr>
        <p:txBody>
          <a:bodyPr wrap="none" rtlCol="0">
            <a:spAutoFit/>
          </a:bodyPr>
          <a:lstStyle/>
          <a:p>
            <a:r>
              <a:rPr lang="en-US" dirty="0"/>
              <a:t>https://</a:t>
            </a:r>
            <a:r>
              <a:rPr lang="en-US" dirty="0" err="1"/>
              <a:t>bit.ly</a:t>
            </a:r>
            <a:r>
              <a:rPr lang="en-US" dirty="0"/>
              <a:t>/3JUnEh8</a:t>
            </a:r>
            <a:endParaRPr lang="en-JP" dirty="0"/>
          </a:p>
        </p:txBody>
      </p:sp>
    </p:spTree>
    <p:extLst>
      <p:ext uri="{BB962C8B-B14F-4D97-AF65-F5344CB8AC3E}">
        <p14:creationId xmlns:p14="http://schemas.microsoft.com/office/powerpoint/2010/main" val="1322698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1415A-1739-6B67-BB25-B03696BB3EF3}"/>
              </a:ext>
            </a:extLst>
          </p:cNvPr>
          <p:cNvSpPr>
            <a:spLocks noGrp="1"/>
          </p:cNvSpPr>
          <p:nvPr>
            <p:ph type="title"/>
          </p:nvPr>
        </p:nvSpPr>
        <p:spPr/>
        <p:txBody>
          <a:bodyPr>
            <a:normAutofit fontScale="90000"/>
          </a:bodyPr>
          <a:lstStyle/>
          <a:p>
            <a:r>
              <a:rPr lang="en-JP" dirty="0"/>
              <a:t>Further Development of the Specs</a:t>
            </a:r>
          </a:p>
        </p:txBody>
      </p:sp>
      <p:sp>
        <p:nvSpPr>
          <p:cNvPr id="3" name="Text Placeholder 2">
            <a:extLst>
              <a:ext uri="{FF2B5EF4-FFF2-40B4-BE49-F238E27FC236}">
                <a16:creationId xmlns:a16="http://schemas.microsoft.com/office/drawing/2014/main" id="{F4809B5E-FB4D-31C6-776A-2253EFAD9725}"/>
              </a:ext>
            </a:extLst>
          </p:cNvPr>
          <p:cNvSpPr>
            <a:spLocks noGrp="1"/>
          </p:cNvSpPr>
          <p:nvPr>
            <p:ph type="body" idx="1"/>
          </p:nvPr>
        </p:nvSpPr>
        <p:spPr/>
        <p:txBody>
          <a:bodyPr>
            <a:normAutofit fontScale="70000" lnSpcReduction="20000"/>
          </a:bodyPr>
          <a:lstStyle/>
          <a:p>
            <a:pPr marL="114300" indent="0">
              <a:buNone/>
            </a:pPr>
            <a:r>
              <a:rPr lang="en-US" dirty="0"/>
              <a:t>On the last call we discussed adjusting our ISO standards for the CRA, and the consensus was that we should try to avoid regional customization.</a:t>
            </a:r>
          </a:p>
          <a:p>
            <a:pPr marL="114300" indent="0">
              <a:buNone/>
            </a:pPr>
            <a:endParaRPr lang="en-US" dirty="0"/>
          </a:p>
          <a:p>
            <a:pPr marL="114300" indent="0">
              <a:buNone/>
            </a:pPr>
            <a:r>
              <a:rPr lang="en-US" dirty="0"/>
              <a:t>The specification team should seek to find commonalities in requirements and remain open to some regional tailoring.</a:t>
            </a:r>
          </a:p>
          <a:p>
            <a:pPr marL="114300" indent="0">
              <a:buNone/>
            </a:pPr>
            <a:endParaRPr lang="en-US" dirty="0"/>
          </a:p>
          <a:p>
            <a:pPr marL="114300" indent="0">
              <a:buNone/>
            </a:pPr>
            <a:r>
              <a:rPr lang="en-US" dirty="0"/>
              <a:t>Tailoring is acceptable as it does cause the software users in regions  receiving the software to be in violation and unable to remain compliant.</a:t>
            </a:r>
          </a:p>
          <a:p>
            <a:pPr marL="114300" indent="0">
              <a:buNone/>
            </a:pPr>
            <a:endParaRPr lang="en-US" dirty="0"/>
          </a:p>
          <a:p>
            <a:pPr marL="114300" indent="0">
              <a:buNone/>
            </a:pPr>
            <a:r>
              <a:rPr lang="en-US" dirty="0"/>
              <a:t>What types of edits or additions may we need to make between now and December 2026? </a:t>
            </a:r>
          </a:p>
          <a:p>
            <a:pPr marL="114300" indent="0">
              <a:buNone/>
            </a:pPr>
            <a:endParaRPr lang="en-US" dirty="0"/>
          </a:p>
          <a:p>
            <a:pPr marL="114300" indent="0">
              <a:buNone/>
            </a:pPr>
            <a:r>
              <a:rPr lang="en-US" dirty="0"/>
              <a:t>Looking at the charts from an academic perspective the survey was inconclusive and not useful to informing us on needed improvement areas to concentrate on. {Simple questions seemed to have yielded simple responses with no clear linkage to the supposed disconnects.} </a:t>
            </a:r>
          </a:p>
          <a:p>
            <a:pPr marL="114300" indent="0">
              <a:buNone/>
            </a:pPr>
            <a:endParaRPr lang="en-US" dirty="0"/>
          </a:p>
          <a:p>
            <a:pPr marL="114300" indent="0">
              <a:buNone/>
            </a:pPr>
            <a:r>
              <a:rPr lang="en-US" dirty="0"/>
              <a:t>We need to get more people  from the communities participating in these meeting and contributing.</a:t>
            </a:r>
          </a:p>
        </p:txBody>
      </p:sp>
      <p:pic>
        <p:nvPicPr>
          <p:cNvPr id="4" name="Picture 3" descr="A person in a suit and tie&#10;&#10;AI-generated content may be incorrect.">
            <a:extLst>
              <a:ext uri="{FF2B5EF4-FFF2-40B4-BE49-F238E27FC236}">
                <a16:creationId xmlns:a16="http://schemas.microsoft.com/office/drawing/2014/main" id="{CCCF66E2-5AF3-F7D9-AE70-25DD3BD54990}"/>
              </a:ext>
            </a:extLst>
          </p:cNvPr>
          <p:cNvPicPr>
            <a:picLocks noChangeAspect="1"/>
          </p:cNvPicPr>
          <p:nvPr/>
        </p:nvPicPr>
        <p:blipFill>
          <a:blip r:embed="rId2"/>
          <a:stretch>
            <a:fillRect/>
          </a:stretch>
        </p:blipFill>
        <p:spPr>
          <a:xfrm>
            <a:off x="7931820" y="0"/>
            <a:ext cx="1212180" cy="1212180"/>
          </a:xfrm>
          <a:prstGeom prst="rect">
            <a:avLst/>
          </a:prstGeom>
        </p:spPr>
      </p:pic>
    </p:spTree>
    <p:extLst>
      <p:ext uri="{BB962C8B-B14F-4D97-AF65-F5344CB8AC3E}">
        <p14:creationId xmlns:p14="http://schemas.microsoft.com/office/powerpoint/2010/main" val="1880277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7F603-BB2F-EF61-CE41-0BF3C3B4A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0D931-24E6-40B4-B359-D199EF50F8A9}"/>
              </a:ext>
            </a:extLst>
          </p:cNvPr>
          <p:cNvSpPr>
            <a:spLocks noGrp="1"/>
          </p:cNvSpPr>
          <p:nvPr>
            <p:ph type="title"/>
          </p:nvPr>
        </p:nvSpPr>
        <p:spPr/>
        <p:txBody>
          <a:bodyPr>
            <a:normAutofit fontScale="90000"/>
          </a:bodyPr>
          <a:lstStyle/>
          <a:p>
            <a:r>
              <a:rPr lang="en-JP" dirty="0"/>
              <a:t>Outcomes of Recent Survey 1/2</a:t>
            </a:r>
          </a:p>
        </p:txBody>
      </p:sp>
      <p:sp>
        <p:nvSpPr>
          <p:cNvPr id="3" name="Text Placeholder 2">
            <a:extLst>
              <a:ext uri="{FF2B5EF4-FFF2-40B4-BE49-F238E27FC236}">
                <a16:creationId xmlns:a16="http://schemas.microsoft.com/office/drawing/2014/main" id="{FADE3019-31C3-8B28-4B68-83B7E61DE117}"/>
              </a:ext>
            </a:extLst>
          </p:cNvPr>
          <p:cNvSpPr>
            <a:spLocks noGrp="1"/>
          </p:cNvSpPr>
          <p:nvPr>
            <p:ph type="body" idx="1"/>
          </p:nvPr>
        </p:nvSpPr>
        <p:spPr>
          <a:xfrm>
            <a:off x="368232" y="1107753"/>
            <a:ext cx="8520600" cy="3339000"/>
          </a:xfrm>
        </p:spPr>
        <p:txBody>
          <a:bodyPr>
            <a:normAutofit/>
          </a:bodyPr>
          <a:lstStyle/>
          <a:p>
            <a:pPr marL="114300" indent="0">
              <a:buNone/>
            </a:pPr>
            <a:r>
              <a:rPr lang="en-US" dirty="0"/>
              <a:t>Limited responses (7) but wide geographic coverage. Interestingly, most responders are not yet adaptors, indicating they are in examination phase:</a:t>
            </a:r>
          </a:p>
        </p:txBody>
      </p:sp>
      <p:pic>
        <p:nvPicPr>
          <p:cNvPr id="4" name="Picture 3" descr="A person in a suit and tie&#10;&#10;AI-generated content may be incorrect.">
            <a:extLst>
              <a:ext uri="{FF2B5EF4-FFF2-40B4-BE49-F238E27FC236}">
                <a16:creationId xmlns:a16="http://schemas.microsoft.com/office/drawing/2014/main" id="{59B1FA41-A430-E8C9-A745-34EE5BA4B466}"/>
              </a:ext>
            </a:extLst>
          </p:cNvPr>
          <p:cNvPicPr>
            <a:picLocks noChangeAspect="1"/>
          </p:cNvPicPr>
          <p:nvPr/>
        </p:nvPicPr>
        <p:blipFill>
          <a:blip r:embed="rId2"/>
          <a:stretch>
            <a:fillRect/>
          </a:stretch>
        </p:blipFill>
        <p:spPr>
          <a:xfrm>
            <a:off x="7931820" y="0"/>
            <a:ext cx="1212180" cy="1212180"/>
          </a:xfrm>
          <a:prstGeom prst="rect">
            <a:avLst/>
          </a:prstGeom>
        </p:spPr>
      </p:pic>
      <p:pic>
        <p:nvPicPr>
          <p:cNvPr id="6" name="Picture 5" descr="A pie chart with different colored sections&#10;&#10;AI-generated content may be incorrect.">
            <a:extLst>
              <a:ext uri="{FF2B5EF4-FFF2-40B4-BE49-F238E27FC236}">
                <a16:creationId xmlns:a16="http://schemas.microsoft.com/office/drawing/2014/main" id="{7BE6802D-E639-FCCB-59E7-2C118F83DDB9}"/>
              </a:ext>
            </a:extLst>
          </p:cNvPr>
          <p:cNvPicPr>
            <a:picLocks noChangeAspect="1"/>
          </p:cNvPicPr>
          <p:nvPr/>
        </p:nvPicPr>
        <p:blipFill>
          <a:blip r:embed="rId3"/>
          <a:stretch>
            <a:fillRect/>
          </a:stretch>
        </p:blipFill>
        <p:spPr>
          <a:xfrm>
            <a:off x="368232" y="1885034"/>
            <a:ext cx="4203768" cy="2482927"/>
          </a:xfrm>
          <a:prstGeom prst="rect">
            <a:avLst/>
          </a:prstGeom>
        </p:spPr>
      </p:pic>
      <p:pic>
        <p:nvPicPr>
          <p:cNvPr id="7" name="Picture 6">
            <a:extLst>
              <a:ext uri="{FF2B5EF4-FFF2-40B4-BE49-F238E27FC236}">
                <a16:creationId xmlns:a16="http://schemas.microsoft.com/office/drawing/2014/main" id="{B52A9598-4340-BBE0-5A70-5D4342FCAF73}"/>
              </a:ext>
            </a:extLst>
          </p:cNvPr>
          <p:cNvPicPr>
            <a:picLocks noChangeAspect="1"/>
          </p:cNvPicPr>
          <p:nvPr/>
        </p:nvPicPr>
        <p:blipFill>
          <a:blip r:embed="rId4"/>
          <a:srcRect/>
          <a:stretch/>
        </p:blipFill>
        <p:spPr>
          <a:xfrm>
            <a:off x="4572000" y="1885034"/>
            <a:ext cx="4436843" cy="2482926"/>
          </a:xfrm>
          <a:prstGeom prst="rect">
            <a:avLst/>
          </a:prstGeom>
        </p:spPr>
      </p:pic>
    </p:spTree>
    <p:extLst>
      <p:ext uri="{BB962C8B-B14F-4D97-AF65-F5344CB8AC3E}">
        <p14:creationId xmlns:p14="http://schemas.microsoft.com/office/powerpoint/2010/main" val="1368170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0F885-1E35-F5DF-63D2-9C49ADE80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91460-ABF9-92B2-63F2-962BAC725A07}"/>
              </a:ext>
            </a:extLst>
          </p:cNvPr>
          <p:cNvSpPr>
            <a:spLocks noGrp="1"/>
          </p:cNvSpPr>
          <p:nvPr>
            <p:ph type="title"/>
          </p:nvPr>
        </p:nvSpPr>
        <p:spPr/>
        <p:txBody>
          <a:bodyPr>
            <a:normAutofit fontScale="90000"/>
          </a:bodyPr>
          <a:lstStyle/>
          <a:p>
            <a:r>
              <a:rPr lang="en-JP" dirty="0"/>
              <a:t>Outcomes of Recent Survey 2/2</a:t>
            </a:r>
          </a:p>
        </p:txBody>
      </p:sp>
      <p:pic>
        <p:nvPicPr>
          <p:cNvPr id="4" name="Picture 3" descr="A person in a suit and tie&#10;&#10;AI-generated content may be incorrect.">
            <a:extLst>
              <a:ext uri="{FF2B5EF4-FFF2-40B4-BE49-F238E27FC236}">
                <a16:creationId xmlns:a16="http://schemas.microsoft.com/office/drawing/2014/main" id="{B18B4E16-8325-D1F9-7594-E8071E3D848E}"/>
              </a:ext>
            </a:extLst>
          </p:cNvPr>
          <p:cNvPicPr>
            <a:picLocks noChangeAspect="1"/>
          </p:cNvPicPr>
          <p:nvPr/>
        </p:nvPicPr>
        <p:blipFill>
          <a:blip r:embed="rId2"/>
          <a:stretch>
            <a:fillRect/>
          </a:stretch>
        </p:blipFill>
        <p:spPr>
          <a:xfrm>
            <a:off x="7931820" y="0"/>
            <a:ext cx="1212180" cy="1212180"/>
          </a:xfrm>
          <a:prstGeom prst="rect">
            <a:avLst/>
          </a:prstGeom>
        </p:spPr>
      </p:pic>
      <p:pic>
        <p:nvPicPr>
          <p:cNvPr id="11" name="Picture 10">
            <a:extLst>
              <a:ext uri="{FF2B5EF4-FFF2-40B4-BE49-F238E27FC236}">
                <a16:creationId xmlns:a16="http://schemas.microsoft.com/office/drawing/2014/main" id="{FCD4066E-C2D7-6802-9B43-ACC35995A274}"/>
              </a:ext>
            </a:extLst>
          </p:cNvPr>
          <p:cNvPicPr>
            <a:picLocks noChangeAspect="1"/>
          </p:cNvPicPr>
          <p:nvPr/>
        </p:nvPicPr>
        <p:blipFill>
          <a:blip r:embed="rId3"/>
          <a:srcRect/>
          <a:stretch/>
        </p:blipFill>
        <p:spPr>
          <a:xfrm>
            <a:off x="180087" y="1017800"/>
            <a:ext cx="3659391" cy="2123438"/>
          </a:xfrm>
          <a:prstGeom prst="rect">
            <a:avLst/>
          </a:prstGeom>
        </p:spPr>
      </p:pic>
      <p:pic>
        <p:nvPicPr>
          <p:cNvPr id="13" name="Picture 12">
            <a:extLst>
              <a:ext uri="{FF2B5EF4-FFF2-40B4-BE49-F238E27FC236}">
                <a16:creationId xmlns:a16="http://schemas.microsoft.com/office/drawing/2014/main" id="{472AA40B-C1CA-5301-5386-ECFEB3AC7601}"/>
              </a:ext>
            </a:extLst>
          </p:cNvPr>
          <p:cNvPicPr>
            <a:picLocks noChangeAspect="1"/>
          </p:cNvPicPr>
          <p:nvPr/>
        </p:nvPicPr>
        <p:blipFill>
          <a:blip r:embed="rId4"/>
          <a:srcRect/>
          <a:stretch/>
        </p:blipFill>
        <p:spPr>
          <a:xfrm>
            <a:off x="184563" y="3084288"/>
            <a:ext cx="3654916" cy="2057215"/>
          </a:xfrm>
          <a:prstGeom prst="rect">
            <a:avLst/>
          </a:prstGeom>
        </p:spPr>
      </p:pic>
      <p:pic>
        <p:nvPicPr>
          <p:cNvPr id="15" name="Picture 14">
            <a:extLst>
              <a:ext uri="{FF2B5EF4-FFF2-40B4-BE49-F238E27FC236}">
                <a16:creationId xmlns:a16="http://schemas.microsoft.com/office/drawing/2014/main" id="{9EFE752C-48D1-97B4-414E-FE5E4FE9C204}"/>
              </a:ext>
            </a:extLst>
          </p:cNvPr>
          <p:cNvPicPr>
            <a:picLocks noChangeAspect="1"/>
          </p:cNvPicPr>
          <p:nvPr/>
        </p:nvPicPr>
        <p:blipFill>
          <a:blip r:embed="rId5"/>
          <a:srcRect/>
          <a:stretch/>
        </p:blipFill>
        <p:spPr>
          <a:xfrm>
            <a:off x="3839477" y="1019859"/>
            <a:ext cx="3536179" cy="2129899"/>
          </a:xfrm>
          <a:prstGeom prst="rect">
            <a:avLst/>
          </a:prstGeom>
        </p:spPr>
      </p:pic>
      <p:pic>
        <p:nvPicPr>
          <p:cNvPr id="17" name="Picture 16">
            <a:extLst>
              <a:ext uri="{FF2B5EF4-FFF2-40B4-BE49-F238E27FC236}">
                <a16:creationId xmlns:a16="http://schemas.microsoft.com/office/drawing/2014/main" id="{2002B6FC-39C3-DD5C-25E6-32F2E08831BE}"/>
              </a:ext>
            </a:extLst>
          </p:cNvPr>
          <p:cNvPicPr>
            <a:picLocks noChangeAspect="1"/>
          </p:cNvPicPr>
          <p:nvPr/>
        </p:nvPicPr>
        <p:blipFill>
          <a:blip r:embed="rId6"/>
          <a:srcRect/>
          <a:stretch/>
        </p:blipFill>
        <p:spPr>
          <a:xfrm>
            <a:off x="3839478" y="3091633"/>
            <a:ext cx="3638355" cy="2051862"/>
          </a:xfrm>
          <a:prstGeom prst="rect">
            <a:avLst/>
          </a:prstGeom>
        </p:spPr>
      </p:pic>
      <p:sp>
        <p:nvSpPr>
          <p:cNvPr id="3" name="Rectangle 2">
            <a:extLst>
              <a:ext uri="{FF2B5EF4-FFF2-40B4-BE49-F238E27FC236}">
                <a16:creationId xmlns:a16="http://schemas.microsoft.com/office/drawing/2014/main" id="{8229F75E-5133-04FA-E2D9-3DE6A91E28AB}"/>
              </a:ext>
            </a:extLst>
          </p:cNvPr>
          <p:cNvSpPr/>
          <p:nvPr/>
        </p:nvSpPr>
        <p:spPr>
          <a:xfrm>
            <a:off x="7837155" y="2640651"/>
            <a:ext cx="189330" cy="188008"/>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 name="Rectangle 4">
            <a:extLst>
              <a:ext uri="{FF2B5EF4-FFF2-40B4-BE49-F238E27FC236}">
                <a16:creationId xmlns:a16="http://schemas.microsoft.com/office/drawing/2014/main" id="{2DA7A57A-48F7-3DDD-3495-167D9E99F8BE}"/>
              </a:ext>
            </a:extLst>
          </p:cNvPr>
          <p:cNvSpPr/>
          <p:nvPr/>
        </p:nvSpPr>
        <p:spPr>
          <a:xfrm>
            <a:off x="7837155" y="2314841"/>
            <a:ext cx="189330" cy="18800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Rectangle 5">
            <a:extLst>
              <a:ext uri="{FF2B5EF4-FFF2-40B4-BE49-F238E27FC236}">
                <a16:creationId xmlns:a16="http://schemas.microsoft.com/office/drawing/2014/main" id="{CA378B3E-C5CB-6AD7-59A4-3D22A57BFBD5}"/>
              </a:ext>
            </a:extLst>
          </p:cNvPr>
          <p:cNvSpPr/>
          <p:nvPr/>
        </p:nvSpPr>
        <p:spPr>
          <a:xfrm>
            <a:off x="7837155" y="1989031"/>
            <a:ext cx="189330" cy="18800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 name="TextBox 6">
            <a:extLst>
              <a:ext uri="{FF2B5EF4-FFF2-40B4-BE49-F238E27FC236}">
                <a16:creationId xmlns:a16="http://schemas.microsoft.com/office/drawing/2014/main" id="{550F5F61-D049-F902-D2CB-4EFFE6BFDD0F}"/>
              </a:ext>
            </a:extLst>
          </p:cNvPr>
          <p:cNvSpPr txBox="1"/>
          <p:nvPr/>
        </p:nvSpPr>
        <p:spPr>
          <a:xfrm>
            <a:off x="8087254" y="1925630"/>
            <a:ext cx="494046" cy="307777"/>
          </a:xfrm>
          <a:prstGeom prst="rect">
            <a:avLst/>
          </a:prstGeom>
          <a:noFill/>
        </p:spPr>
        <p:txBody>
          <a:bodyPr wrap="none" rtlCol="0">
            <a:spAutoFit/>
          </a:bodyPr>
          <a:lstStyle/>
          <a:p>
            <a:r>
              <a:rPr lang="en-JP" dirty="0"/>
              <a:t>Yes</a:t>
            </a:r>
          </a:p>
        </p:txBody>
      </p:sp>
      <p:sp>
        <p:nvSpPr>
          <p:cNvPr id="8" name="TextBox 7">
            <a:extLst>
              <a:ext uri="{FF2B5EF4-FFF2-40B4-BE49-F238E27FC236}">
                <a16:creationId xmlns:a16="http://schemas.microsoft.com/office/drawing/2014/main" id="{7FA8EA4F-50BE-5079-5472-F687A8A0715D}"/>
              </a:ext>
            </a:extLst>
          </p:cNvPr>
          <p:cNvSpPr txBox="1"/>
          <p:nvPr/>
        </p:nvSpPr>
        <p:spPr>
          <a:xfrm>
            <a:off x="8087254" y="2254956"/>
            <a:ext cx="413896" cy="307777"/>
          </a:xfrm>
          <a:prstGeom prst="rect">
            <a:avLst/>
          </a:prstGeom>
          <a:noFill/>
        </p:spPr>
        <p:txBody>
          <a:bodyPr wrap="none" rtlCol="0">
            <a:spAutoFit/>
          </a:bodyPr>
          <a:lstStyle/>
          <a:p>
            <a:r>
              <a:rPr lang="en-JP" dirty="0"/>
              <a:t>No</a:t>
            </a:r>
          </a:p>
        </p:txBody>
      </p:sp>
      <p:sp>
        <p:nvSpPr>
          <p:cNvPr id="9" name="TextBox 8">
            <a:extLst>
              <a:ext uri="{FF2B5EF4-FFF2-40B4-BE49-F238E27FC236}">
                <a16:creationId xmlns:a16="http://schemas.microsoft.com/office/drawing/2014/main" id="{1A0FA401-0BE3-3E43-93B4-7A4F67366E78}"/>
              </a:ext>
            </a:extLst>
          </p:cNvPr>
          <p:cNvSpPr txBox="1"/>
          <p:nvPr/>
        </p:nvSpPr>
        <p:spPr>
          <a:xfrm>
            <a:off x="8087254" y="2580766"/>
            <a:ext cx="484428" cy="307777"/>
          </a:xfrm>
          <a:prstGeom prst="rect">
            <a:avLst/>
          </a:prstGeom>
          <a:noFill/>
        </p:spPr>
        <p:txBody>
          <a:bodyPr wrap="none" rtlCol="0">
            <a:spAutoFit/>
          </a:bodyPr>
          <a:lstStyle/>
          <a:p>
            <a:r>
              <a:rPr lang="en-JP" dirty="0"/>
              <a:t>N/A</a:t>
            </a:r>
          </a:p>
        </p:txBody>
      </p:sp>
    </p:spTree>
    <p:extLst>
      <p:ext uri="{BB962C8B-B14F-4D97-AF65-F5344CB8AC3E}">
        <p14:creationId xmlns:p14="http://schemas.microsoft.com/office/powerpoint/2010/main" val="1009097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Education Work Group</a:t>
            </a:r>
            <a:endParaRPr dirty="0"/>
          </a:p>
        </p:txBody>
      </p:sp>
      <p:pic>
        <p:nvPicPr>
          <p:cNvPr id="2" name="Picture 1">
            <a:extLst>
              <a:ext uri="{FF2B5EF4-FFF2-40B4-BE49-F238E27FC236}">
                <a16:creationId xmlns:a16="http://schemas.microsoft.com/office/drawing/2014/main" id="{93D6512B-4352-C2ED-23BC-2CCA11A590A3}"/>
              </a:ext>
            </a:extLst>
          </p:cNvPr>
          <p:cNvPicPr>
            <a:picLocks noChangeAspect="1"/>
          </p:cNvPicPr>
          <p:nvPr/>
        </p:nvPicPr>
        <p:blipFill>
          <a:blip r:embed="rId3"/>
          <a:srcRect/>
          <a:stretch/>
        </p:blipFill>
        <p:spPr>
          <a:xfrm>
            <a:off x="7931820" y="0"/>
            <a:ext cx="1212180" cy="1212180"/>
          </a:xfrm>
          <a:prstGeom prst="rect">
            <a:avLst/>
          </a:prstGeom>
        </p:spPr>
      </p:pic>
    </p:spTree>
    <p:extLst>
      <p:ext uri="{BB962C8B-B14F-4D97-AF65-F5344CB8AC3E}">
        <p14:creationId xmlns:p14="http://schemas.microsoft.com/office/powerpoint/2010/main" val="2085896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3FAF-AA08-B5ED-E162-53AE0EE19E1F}"/>
              </a:ext>
            </a:extLst>
          </p:cNvPr>
          <p:cNvSpPr>
            <a:spLocks noGrp="1"/>
          </p:cNvSpPr>
          <p:nvPr>
            <p:ph type="title"/>
          </p:nvPr>
        </p:nvSpPr>
        <p:spPr/>
        <p:txBody>
          <a:bodyPr>
            <a:normAutofit fontScale="90000"/>
          </a:bodyPr>
          <a:lstStyle/>
          <a:p>
            <a:r>
              <a:rPr lang="en-JP" dirty="0"/>
              <a:t>Update and Next Steps – Training Material</a:t>
            </a:r>
          </a:p>
        </p:txBody>
      </p:sp>
      <p:sp>
        <p:nvSpPr>
          <p:cNvPr id="3" name="Text Placeholder 2">
            <a:extLst>
              <a:ext uri="{FF2B5EF4-FFF2-40B4-BE49-F238E27FC236}">
                <a16:creationId xmlns:a16="http://schemas.microsoft.com/office/drawing/2014/main" id="{678CC759-90B3-FA4A-8F7F-E44B2B6284F8}"/>
              </a:ext>
            </a:extLst>
          </p:cNvPr>
          <p:cNvSpPr>
            <a:spLocks noGrp="1"/>
          </p:cNvSpPr>
          <p:nvPr>
            <p:ph type="body" idx="1"/>
          </p:nvPr>
        </p:nvSpPr>
        <p:spPr>
          <a:xfrm>
            <a:off x="311700" y="1266450"/>
            <a:ext cx="8520600" cy="3339000"/>
          </a:xfrm>
        </p:spPr>
        <p:txBody>
          <a:bodyPr>
            <a:normAutofit/>
          </a:bodyPr>
          <a:lstStyle/>
          <a:p>
            <a:pPr marL="114300" indent="0">
              <a:buNone/>
            </a:pPr>
            <a:r>
              <a:rPr lang="en-US" dirty="0"/>
              <a:t>LFC193 Course</a:t>
            </a:r>
          </a:p>
          <a:p>
            <a:pPr marL="114300" indent="0">
              <a:buNone/>
            </a:pPr>
            <a:r>
              <a:rPr lang="en-US" dirty="0"/>
              <a:t>	Candidate .md version on </a:t>
            </a:r>
            <a:r>
              <a:rPr lang="en-US" dirty="0" err="1"/>
              <a:t>github</a:t>
            </a:r>
            <a:endParaRPr lang="en-US" dirty="0"/>
          </a:p>
          <a:p>
            <a:pPr marL="114300" indent="0">
              <a:buNone/>
            </a:pPr>
            <a:r>
              <a:rPr lang="en-US" sz="1100" dirty="0"/>
              <a:t>	https://github.com/OpenChain-Project/Reference-Material/blob/master/OpenChain-Training/en/Online-Training-Courses/LFC193%20Course%20Content/Introduction%20to%20Open%20Source%20License%20Compliance%20Management%20(LFC193).md</a:t>
            </a:r>
          </a:p>
          <a:p>
            <a:pPr marL="114300" indent="0">
              <a:buNone/>
            </a:pPr>
            <a:endParaRPr lang="en-US" dirty="0"/>
          </a:p>
          <a:p>
            <a:pPr marL="114300" indent="0">
              <a:buNone/>
            </a:pPr>
            <a:r>
              <a:rPr lang="en-US" dirty="0"/>
              <a:t>	Add a GenAI note??</a:t>
            </a:r>
          </a:p>
          <a:p>
            <a:pPr marL="114300" indent="0">
              <a:buNone/>
            </a:pPr>
            <a:r>
              <a:rPr lang="en-US" sz="1600" dirty="0"/>
              <a:t>		https://github.com/OpenChain-Project/Reference-Material/issues/130</a:t>
            </a:r>
          </a:p>
          <a:p>
            <a:pPr marL="114300" indent="0">
              <a:buNone/>
            </a:pPr>
            <a:endParaRPr lang="en-US" dirty="0"/>
          </a:p>
          <a:p>
            <a:pPr marL="114300" indent="0">
              <a:buNone/>
            </a:pPr>
            <a:r>
              <a:rPr lang="en-US" dirty="0"/>
              <a:t>	</a:t>
            </a:r>
          </a:p>
          <a:p>
            <a:pPr marL="114300" indent="0">
              <a:buNone/>
            </a:pPr>
            <a:r>
              <a:rPr lang="en-US" dirty="0"/>
              <a:t>	Linux Foundation Training resource allocated from Jan ‘26</a:t>
            </a:r>
          </a:p>
          <a:p>
            <a:pPr marL="114300" indent="0">
              <a:buNone/>
            </a:pPr>
            <a:endParaRPr lang="en-US" dirty="0"/>
          </a:p>
          <a:p>
            <a:pPr marL="114300" indent="0">
              <a:buNone/>
            </a:pPr>
            <a:endParaRPr lang="en-US" dirty="0"/>
          </a:p>
        </p:txBody>
      </p:sp>
      <p:pic>
        <p:nvPicPr>
          <p:cNvPr id="4" name="Picture 3">
            <a:extLst>
              <a:ext uri="{FF2B5EF4-FFF2-40B4-BE49-F238E27FC236}">
                <a16:creationId xmlns:a16="http://schemas.microsoft.com/office/drawing/2014/main" id="{C710BFFD-8BE8-DDF7-63F3-89EC8CCCB04B}"/>
              </a:ext>
            </a:extLst>
          </p:cNvPr>
          <p:cNvPicPr>
            <a:picLocks noChangeAspect="1"/>
          </p:cNvPicPr>
          <p:nvPr/>
        </p:nvPicPr>
        <p:blipFill>
          <a:blip r:embed="rId3"/>
          <a:srcRect/>
          <a:stretch/>
        </p:blipFill>
        <p:spPr>
          <a:xfrm>
            <a:off x="7931820" y="0"/>
            <a:ext cx="1212180" cy="1212180"/>
          </a:xfrm>
          <a:prstGeom prst="rect">
            <a:avLst/>
          </a:prstGeom>
        </p:spPr>
      </p:pic>
      <p:pic>
        <p:nvPicPr>
          <p:cNvPr id="6" name="Picture 5">
            <a:extLst>
              <a:ext uri="{FF2B5EF4-FFF2-40B4-BE49-F238E27FC236}">
                <a16:creationId xmlns:a16="http://schemas.microsoft.com/office/drawing/2014/main" id="{41F6FBEC-8205-CE1D-C781-8A2DD17A9F1E}"/>
              </a:ext>
            </a:extLst>
          </p:cNvPr>
          <p:cNvPicPr>
            <a:picLocks noChangeAspect="1"/>
          </p:cNvPicPr>
          <p:nvPr/>
        </p:nvPicPr>
        <p:blipFill>
          <a:blip r:embed="rId4"/>
          <a:stretch>
            <a:fillRect/>
          </a:stretch>
        </p:blipFill>
        <p:spPr>
          <a:xfrm>
            <a:off x="7922646" y="3450988"/>
            <a:ext cx="683877" cy="680644"/>
          </a:xfrm>
          <a:prstGeom prst="rect">
            <a:avLst/>
          </a:prstGeom>
        </p:spPr>
      </p:pic>
      <p:pic>
        <p:nvPicPr>
          <p:cNvPr id="8" name="Picture 7">
            <a:extLst>
              <a:ext uri="{FF2B5EF4-FFF2-40B4-BE49-F238E27FC236}">
                <a16:creationId xmlns:a16="http://schemas.microsoft.com/office/drawing/2014/main" id="{00862421-1775-E97E-6899-85F840ED3F87}"/>
              </a:ext>
            </a:extLst>
          </p:cNvPr>
          <p:cNvPicPr>
            <a:picLocks noChangeAspect="1"/>
          </p:cNvPicPr>
          <p:nvPr/>
        </p:nvPicPr>
        <p:blipFill>
          <a:blip r:embed="rId5"/>
          <a:stretch>
            <a:fillRect/>
          </a:stretch>
        </p:blipFill>
        <p:spPr>
          <a:xfrm>
            <a:off x="7854033" y="2371482"/>
            <a:ext cx="821104" cy="830856"/>
          </a:xfrm>
          <a:prstGeom prst="rect">
            <a:avLst/>
          </a:prstGeom>
        </p:spPr>
      </p:pic>
    </p:spTree>
    <p:extLst>
      <p:ext uri="{BB962C8B-B14F-4D97-AF65-F5344CB8AC3E}">
        <p14:creationId xmlns:p14="http://schemas.microsoft.com/office/powerpoint/2010/main" val="1657136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16C9-DB26-275E-70A5-D86A5A01D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37474-D292-A69A-B2BB-80A5C7A7E8AD}"/>
              </a:ext>
            </a:extLst>
          </p:cNvPr>
          <p:cNvSpPr>
            <a:spLocks noGrp="1"/>
          </p:cNvSpPr>
          <p:nvPr>
            <p:ph type="title"/>
          </p:nvPr>
        </p:nvSpPr>
        <p:spPr/>
        <p:txBody>
          <a:bodyPr>
            <a:normAutofit fontScale="90000"/>
          </a:bodyPr>
          <a:lstStyle/>
          <a:p>
            <a:r>
              <a:rPr lang="en-JP" dirty="0"/>
              <a:t>Update and Next Steps – Training Material</a:t>
            </a:r>
          </a:p>
        </p:txBody>
      </p:sp>
      <p:sp>
        <p:nvSpPr>
          <p:cNvPr id="3" name="Text Placeholder 2">
            <a:extLst>
              <a:ext uri="{FF2B5EF4-FFF2-40B4-BE49-F238E27FC236}">
                <a16:creationId xmlns:a16="http://schemas.microsoft.com/office/drawing/2014/main" id="{319EE242-1E95-390C-1B0A-3A9A6B19FA0E}"/>
              </a:ext>
            </a:extLst>
          </p:cNvPr>
          <p:cNvSpPr>
            <a:spLocks noGrp="1"/>
          </p:cNvSpPr>
          <p:nvPr>
            <p:ph type="body" idx="1"/>
          </p:nvPr>
        </p:nvSpPr>
        <p:spPr>
          <a:xfrm>
            <a:off x="311700" y="1266450"/>
            <a:ext cx="8520600" cy="3339000"/>
          </a:xfrm>
        </p:spPr>
        <p:txBody>
          <a:bodyPr>
            <a:normAutofit/>
          </a:bodyPr>
          <a:lstStyle/>
          <a:p>
            <a:pPr marL="114300" indent="0">
              <a:buNone/>
            </a:pPr>
            <a:r>
              <a:rPr lang="en-US" dirty="0"/>
              <a:t>LFC194 Course</a:t>
            </a:r>
          </a:p>
          <a:p>
            <a:pPr marL="114300" indent="0">
              <a:buNone/>
            </a:pPr>
            <a:r>
              <a:rPr lang="en-US" dirty="0"/>
              <a:t>	</a:t>
            </a:r>
            <a:r>
              <a:rPr lang="en-US" sz="1600" dirty="0">
                <a:hlinkClick r:id="rId3"/>
              </a:rPr>
              <a:t>https://github.com/OpenChain-Project/Reference-Material/tree/master/OpenChain-Training/en/Online-Training-Courses/LFC194%20Course%20Content</a:t>
            </a:r>
            <a:endParaRPr lang="en-US" sz="1600" dirty="0"/>
          </a:p>
          <a:p>
            <a:pPr marL="114300" indent="0">
              <a:buNone/>
            </a:pPr>
            <a:endParaRPr lang="en-US" dirty="0"/>
          </a:p>
          <a:p>
            <a:pPr marL="114300" indent="0">
              <a:buNone/>
            </a:pPr>
            <a:r>
              <a:rPr lang="en-US" dirty="0"/>
              <a:t>	Target completion date for end Q1 to pass to Linux Foundation Training</a:t>
            </a:r>
          </a:p>
          <a:p>
            <a:pPr marL="114300" indent="0">
              <a:buNone/>
            </a:pPr>
            <a:endParaRPr lang="en-US" dirty="0"/>
          </a:p>
          <a:p>
            <a:pPr marL="114300" indent="0">
              <a:buNone/>
            </a:pPr>
            <a:r>
              <a:rPr lang="en-US" dirty="0"/>
              <a:t>	Review of existing comments and proposed changes</a:t>
            </a:r>
          </a:p>
          <a:p>
            <a:pPr marL="114300" indent="0">
              <a:buNone/>
            </a:pPr>
            <a:r>
              <a:rPr lang="en-US" dirty="0"/>
              <a:t>	</a:t>
            </a:r>
          </a:p>
        </p:txBody>
      </p:sp>
      <p:pic>
        <p:nvPicPr>
          <p:cNvPr id="4" name="Picture 3">
            <a:extLst>
              <a:ext uri="{FF2B5EF4-FFF2-40B4-BE49-F238E27FC236}">
                <a16:creationId xmlns:a16="http://schemas.microsoft.com/office/drawing/2014/main" id="{4BB65766-F9FE-5831-BEBE-D6161CA7CE7F}"/>
              </a:ext>
            </a:extLst>
          </p:cNvPr>
          <p:cNvPicPr>
            <a:picLocks noChangeAspect="1"/>
          </p:cNvPicPr>
          <p:nvPr/>
        </p:nvPicPr>
        <p:blipFill>
          <a:blip r:embed="rId4"/>
          <a:srcRect/>
          <a:stretch/>
        </p:blipFill>
        <p:spPr>
          <a:xfrm>
            <a:off x="7931820" y="0"/>
            <a:ext cx="1212180" cy="1212180"/>
          </a:xfrm>
          <a:prstGeom prst="rect">
            <a:avLst/>
          </a:prstGeom>
        </p:spPr>
      </p:pic>
      <p:pic>
        <p:nvPicPr>
          <p:cNvPr id="6" name="Picture 5">
            <a:extLst>
              <a:ext uri="{FF2B5EF4-FFF2-40B4-BE49-F238E27FC236}">
                <a16:creationId xmlns:a16="http://schemas.microsoft.com/office/drawing/2014/main" id="{FEFF1D38-584F-C7FD-5ABE-EC62CFCB50EA}"/>
              </a:ext>
            </a:extLst>
          </p:cNvPr>
          <p:cNvPicPr>
            <a:picLocks noChangeAspect="1"/>
          </p:cNvPicPr>
          <p:nvPr/>
        </p:nvPicPr>
        <p:blipFill>
          <a:blip r:embed="rId5"/>
          <a:stretch>
            <a:fillRect/>
          </a:stretch>
        </p:blipFill>
        <p:spPr>
          <a:xfrm>
            <a:off x="7250725" y="1575188"/>
            <a:ext cx="1018491" cy="996562"/>
          </a:xfrm>
          <a:prstGeom prst="rect">
            <a:avLst/>
          </a:prstGeom>
        </p:spPr>
      </p:pic>
    </p:spTree>
    <p:extLst>
      <p:ext uri="{BB962C8B-B14F-4D97-AF65-F5344CB8AC3E}">
        <p14:creationId xmlns:p14="http://schemas.microsoft.com/office/powerpoint/2010/main" val="2882144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Any other business?</a:t>
            </a:r>
            <a:endParaRPr dirty="0"/>
          </a:p>
        </p:txBody>
      </p:sp>
    </p:spTree>
    <p:extLst>
      <p:ext uri="{BB962C8B-B14F-4D97-AF65-F5344CB8AC3E}">
        <p14:creationId xmlns:p14="http://schemas.microsoft.com/office/powerpoint/2010/main" val="1756685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9C43F-71B0-DA19-1C28-0148DB1C3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11BCD-3946-770D-C60B-22F062AC0D3A}"/>
              </a:ext>
            </a:extLst>
          </p:cNvPr>
          <p:cNvSpPr>
            <a:spLocks noGrp="1"/>
          </p:cNvSpPr>
          <p:nvPr>
            <p:ph type="title"/>
          </p:nvPr>
        </p:nvSpPr>
        <p:spPr/>
        <p:txBody>
          <a:bodyPr>
            <a:normAutofit fontScale="90000"/>
          </a:bodyPr>
          <a:lstStyle/>
          <a:p>
            <a:r>
              <a:rPr lang="en-GB" dirty="0"/>
              <a:t>Meetings</a:t>
            </a:r>
            <a:r>
              <a:rPr lang="en-JP" dirty="0"/>
              <a:t>:</a:t>
            </a:r>
          </a:p>
        </p:txBody>
      </p:sp>
      <p:sp>
        <p:nvSpPr>
          <p:cNvPr id="4" name="Text Placeholder 3">
            <a:extLst>
              <a:ext uri="{FF2B5EF4-FFF2-40B4-BE49-F238E27FC236}">
                <a16:creationId xmlns:a16="http://schemas.microsoft.com/office/drawing/2014/main" id="{4F70718B-6C87-8DCE-264B-BB926506714C}"/>
              </a:ext>
            </a:extLst>
          </p:cNvPr>
          <p:cNvSpPr>
            <a:spLocks noGrp="1"/>
          </p:cNvSpPr>
          <p:nvPr>
            <p:ph type="body" idx="1"/>
          </p:nvPr>
        </p:nvSpPr>
        <p:spPr/>
        <p:txBody>
          <a:bodyPr>
            <a:normAutofit/>
          </a:bodyPr>
          <a:lstStyle/>
          <a:p>
            <a:r>
              <a:rPr lang="en-GB" dirty="0"/>
              <a:t>Our schedule remains the same for December: NA / Europe on second week, Europe / Asia on third week December. </a:t>
            </a:r>
            <a:br>
              <a:rPr lang="en-GB" dirty="0"/>
            </a:br>
            <a:r>
              <a:rPr lang="en-GB" dirty="0"/>
              <a:t>It is here: </a:t>
            </a:r>
            <a:r>
              <a:rPr lang="en-GB" dirty="0">
                <a:hlinkClick r:id="rId2"/>
              </a:rPr>
              <a:t>https://openchainproject.org/participate</a:t>
            </a:r>
            <a:r>
              <a:rPr lang="en-GB" dirty="0"/>
              <a:t>   </a:t>
            </a:r>
          </a:p>
          <a:p>
            <a:pPr marL="114300" indent="0">
              <a:buNone/>
            </a:pPr>
            <a:endParaRPr lang="en-GB" dirty="0"/>
          </a:p>
          <a:p>
            <a:r>
              <a:rPr lang="en-GB" dirty="0"/>
              <a:t>From January 2026 we will move to a new schedule:</a:t>
            </a:r>
          </a:p>
          <a:p>
            <a:pPr lvl="1"/>
            <a:r>
              <a:rPr lang="en-GB" dirty="0"/>
              <a:t>OpenChain Monthly Specification and Education Call (North America / Europe) on the 14th January @ 16:30 UTC </a:t>
            </a:r>
          </a:p>
          <a:p>
            <a:pPr lvl="1"/>
            <a:r>
              <a:rPr lang="en-GB" dirty="0"/>
              <a:t>OpenChain Monthly Education Call (Europe / Asia) on the 21st January @ 08:30 UTC </a:t>
            </a:r>
          </a:p>
          <a:p>
            <a:pPr lvl="1"/>
            <a:r>
              <a:rPr lang="en-GB" dirty="0"/>
              <a:t>OpenChain Monthly Specification Call (North America / Asia) on the 21st January @ 23:30 UTC</a:t>
            </a:r>
          </a:p>
        </p:txBody>
      </p:sp>
    </p:spTree>
    <p:extLst>
      <p:ext uri="{BB962C8B-B14F-4D97-AF65-F5344CB8AC3E}">
        <p14:creationId xmlns:p14="http://schemas.microsoft.com/office/powerpoint/2010/main" val="3361538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Close of meeting</a:t>
            </a:r>
            <a:endParaRPr dirty="0"/>
          </a:p>
        </p:txBody>
      </p:sp>
    </p:spTree>
    <p:extLst>
      <p:ext uri="{BB962C8B-B14F-4D97-AF65-F5344CB8AC3E}">
        <p14:creationId xmlns:p14="http://schemas.microsoft.com/office/powerpoint/2010/main" val="980668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3" name="Text Placeholder 2">
            <a:extLst>
              <a:ext uri="{FF2B5EF4-FFF2-40B4-BE49-F238E27FC236}">
                <a16:creationId xmlns:a16="http://schemas.microsoft.com/office/drawing/2014/main" id="{318B57C4-0EE4-84CC-F4DC-10D170F512D8}"/>
              </a:ext>
            </a:extLst>
          </p:cNvPr>
          <p:cNvSpPr>
            <a:spLocks noGrp="1"/>
          </p:cNvSpPr>
          <p:nvPr>
            <p:ph type="body" idx="1"/>
          </p:nvPr>
        </p:nvSpPr>
        <p:spPr/>
        <p:txBody>
          <a:bodyPr/>
          <a:lstStyle/>
          <a:p>
            <a:r>
              <a:rPr lang="en-JP" dirty="0"/>
              <a:t>See you next time!</a:t>
            </a:r>
          </a:p>
        </p:txBody>
      </p:sp>
    </p:spTree>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3301</TotalTime>
  <Words>869</Words>
  <Application>Microsoft Macintosh PowerPoint</Application>
  <PresentationFormat>On-screen Show (16:9)</PresentationFormat>
  <Paragraphs>80</Paragraphs>
  <Slides>17</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Roboto</vt:lpstr>
      <vt:lpstr>Open Sans Medium</vt:lpstr>
      <vt:lpstr>Roboto Slab Light</vt:lpstr>
      <vt:lpstr>Arial</vt:lpstr>
      <vt:lpstr>Linux Foundation EU Theme 2023</vt:lpstr>
      <vt:lpstr>OpenChain Monthly Meeting: Spec, Education + More</vt:lpstr>
      <vt:lpstr>Anti-Trust Policy Notice</vt:lpstr>
      <vt:lpstr>Agenda</vt:lpstr>
      <vt:lpstr>OpenChain Project News</vt:lpstr>
      <vt:lpstr>Main News Item:</vt:lpstr>
      <vt:lpstr>Specification Work Group</vt:lpstr>
      <vt:lpstr>Sister Standards - Processes for Programs</vt:lpstr>
      <vt:lpstr>Further Development of the Specs</vt:lpstr>
      <vt:lpstr>Outcomes of Recent Survey 1/2</vt:lpstr>
      <vt:lpstr>Outcomes of Recent Survey 2/2</vt:lpstr>
      <vt:lpstr>Education Work Group</vt:lpstr>
      <vt:lpstr>Update and Next Steps – Training Material</vt:lpstr>
      <vt:lpstr>Update and Next Steps – Training Material</vt:lpstr>
      <vt:lpstr>Any other business?</vt:lpstr>
      <vt:lpstr>Meetings:</vt:lpstr>
      <vt:lpstr>Close of meeting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Wood, Chris (US)</dc:creator>
  <cp:lastModifiedBy>Shane Coughlan</cp:lastModifiedBy>
  <cp:revision>96</cp:revision>
  <dcterms:modified xsi:type="dcterms:W3CDTF">2025-12-09T04:36:28Z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02bc7c3-f152-4da1-98bd-f7a1bebdf752_Enabled">
    <vt:lpwstr>true</vt:lpwstr>
  </property>
  <property fmtid="{D5CDD505-2E9C-101B-9397-08002B2CF9AE}" pid="3" name="MSIP_Label_502bc7c3-f152-4da1-98bd-f7a1bebdf752_SetDate">
    <vt:lpwstr>2025-12-08T13:02:47Z</vt:lpwstr>
  </property>
  <property fmtid="{D5CDD505-2E9C-101B-9397-08002B2CF9AE}" pid="4" name="MSIP_Label_502bc7c3-f152-4da1-98bd-f7a1bebdf752_Method">
    <vt:lpwstr>Privileged</vt:lpwstr>
  </property>
  <property fmtid="{D5CDD505-2E9C-101B-9397-08002B2CF9AE}" pid="5" name="MSIP_Label_502bc7c3-f152-4da1-98bd-f7a1bebdf752_Name">
    <vt:lpwstr>Unrestricted</vt:lpwstr>
  </property>
  <property fmtid="{D5CDD505-2E9C-101B-9397-08002B2CF9AE}" pid="6" name="MSIP_Label_502bc7c3-f152-4da1-98bd-f7a1bebdf752_SiteId">
    <vt:lpwstr>b18f006c-b0fc-467d-b23a-a35b5695b5dc</vt:lpwstr>
  </property>
  <property fmtid="{D5CDD505-2E9C-101B-9397-08002B2CF9AE}" pid="7" name="MSIP_Label_502bc7c3-f152-4da1-98bd-f7a1bebdf752_ActionId">
    <vt:lpwstr>b3ec2b99-531d-45bd-b9b7-5d83ddd75fda</vt:lpwstr>
  </property>
  <property fmtid="{D5CDD505-2E9C-101B-9397-08002B2CF9AE}" pid="8" name="MSIP_Label_502bc7c3-f152-4da1-98bd-f7a1bebdf752_ContentBits">
    <vt:lpwstr>0</vt:lpwstr>
  </property>
  <property fmtid="{D5CDD505-2E9C-101B-9397-08002B2CF9AE}" pid="9" name="MSIP_Label_502bc7c3-f152-4da1-98bd-f7a1bebdf752_Tag">
    <vt:lpwstr>10, 0, 1, 1</vt:lpwstr>
  </property>
</Properties>
</file>