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8"/>
  </p:notesMasterIdLst>
  <p:sldIdLst>
    <p:sldId id="771" r:id="rId2"/>
    <p:sldId id="772" r:id="rId3"/>
    <p:sldId id="773" r:id="rId4"/>
    <p:sldId id="774" r:id="rId5"/>
    <p:sldId id="776" r:id="rId6"/>
    <p:sldId id="775" r:id="rId7"/>
    <p:sldId id="777" r:id="rId8"/>
    <p:sldId id="778" r:id="rId9"/>
    <p:sldId id="779" r:id="rId10"/>
    <p:sldId id="787" r:id="rId11"/>
    <p:sldId id="788" r:id="rId12"/>
    <p:sldId id="782" r:id="rId13"/>
    <p:sldId id="783" r:id="rId14"/>
    <p:sldId id="784" r:id="rId15"/>
    <p:sldId id="785" r:id="rId16"/>
    <p:sldId id="786" r:id="rId17"/>
  </p:sldIdLst>
  <p:sldSz cx="9144000" cy="5143500" type="screen16x9"/>
  <p:notesSz cx="6858000" cy="9144000"/>
  <p:embeddedFontLst>
    <p:embeddedFont>
      <p:font typeface="Open Sans Medium" panose="020B0306030504020204" pitchFamily="34"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Roboto Slab Light" pitchFamily="2"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41"/>
    <p:restoredTop sz="96301"/>
  </p:normalViewPr>
  <p:slideViewPr>
    <p:cSldViewPr snapToGrid="0">
      <p:cViewPr varScale="1">
        <p:scale>
          <a:sx n="149" d="100"/>
          <a:sy n="149" d="100"/>
        </p:scale>
        <p:origin x="1000" y="4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25233F98-7C54-B8E2-DCE8-93BDCA17ADE4}"/>
            </a:ext>
          </a:extLst>
        </p:cNvPr>
        <p:cNvGrpSpPr/>
        <p:nvPr/>
      </p:nvGrpSpPr>
      <p:grpSpPr>
        <a:xfrm>
          <a:off x="0" y="0"/>
          <a:ext cx="0" cy="0"/>
          <a:chOff x="0" y="0"/>
          <a:chExt cx="0" cy="0"/>
        </a:xfrm>
      </p:grpSpPr>
      <p:sp>
        <p:nvSpPr>
          <p:cNvPr id="119" name="Google Shape;119;g144aaa0767c_0_69:notes">
            <a:extLst>
              <a:ext uri="{FF2B5EF4-FFF2-40B4-BE49-F238E27FC236}">
                <a16:creationId xmlns:a16="http://schemas.microsoft.com/office/drawing/2014/main" id="{041D6186-2E4A-E68C-E241-6FEF2EFD34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44aaa0767c_0_69:notes">
            <a:extLst>
              <a:ext uri="{FF2B5EF4-FFF2-40B4-BE49-F238E27FC236}">
                <a16:creationId xmlns:a16="http://schemas.microsoft.com/office/drawing/2014/main" id="{D3F74F9D-341D-6B18-2245-74E16C05F3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9727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BD371B81-5B21-F16B-5213-7CB9382CC787}"/>
            </a:ext>
          </a:extLst>
        </p:cNvPr>
        <p:cNvGrpSpPr/>
        <p:nvPr/>
      </p:nvGrpSpPr>
      <p:grpSpPr>
        <a:xfrm>
          <a:off x="0" y="0"/>
          <a:ext cx="0" cy="0"/>
          <a:chOff x="0" y="0"/>
          <a:chExt cx="0" cy="0"/>
        </a:xfrm>
      </p:grpSpPr>
      <p:sp>
        <p:nvSpPr>
          <p:cNvPr id="154" name="Google Shape;154;g146cbe31ecc_0_86:notes">
            <a:extLst>
              <a:ext uri="{FF2B5EF4-FFF2-40B4-BE49-F238E27FC236}">
                <a16:creationId xmlns:a16="http://schemas.microsoft.com/office/drawing/2014/main" id="{8EE7CBB2-8F96-A6A8-0081-8B8BB62CB5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a:extLst>
              <a:ext uri="{FF2B5EF4-FFF2-40B4-BE49-F238E27FC236}">
                <a16:creationId xmlns:a16="http://schemas.microsoft.com/office/drawing/2014/main" id="{5D7DFADF-C39C-9C97-B0CE-B56AB798E8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1388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90629331-A17F-E96F-A6D4-3A3C11A0A9EF}"/>
            </a:ext>
          </a:extLst>
        </p:cNvPr>
        <p:cNvGrpSpPr/>
        <p:nvPr/>
      </p:nvGrpSpPr>
      <p:grpSpPr>
        <a:xfrm>
          <a:off x="0" y="0"/>
          <a:ext cx="0" cy="0"/>
          <a:chOff x="0" y="0"/>
          <a:chExt cx="0" cy="0"/>
        </a:xfrm>
      </p:grpSpPr>
      <p:sp>
        <p:nvSpPr>
          <p:cNvPr id="154" name="Google Shape;154;g146cbe31ecc_0_86:notes">
            <a:extLst>
              <a:ext uri="{FF2B5EF4-FFF2-40B4-BE49-F238E27FC236}">
                <a16:creationId xmlns:a16="http://schemas.microsoft.com/office/drawing/2014/main" id="{53CAFE5C-8E77-C9D9-E8ED-DC718EF28D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a:extLst>
              <a:ext uri="{FF2B5EF4-FFF2-40B4-BE49-F238E27FC236}">
                <a16:creationId xmlns:a16="http://schemas.microsoft.com/office/drawing/2014/main" id="{79846D23-AAF6-C759-6781-25C052D6EE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27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0BFE5DDB-53EC-59AF-10C7-0AA5812D27AA}"/>
            </a:ext>
          </a:extLst>
        </p:cNvPr>
        <p:cNvGrpSpPr/>
        <p:nvPr/>
      </p:nvGrpSpPr>
      <p:grpSpPr>
        <a:xfrm>
          <a:off x="0" y="0"/>
          <a:ext cx="0" cy="0"/>
          <a:chOff x="0" y="0"/>
          <a:chExt cx="0" cy="0"/>
        </a:xfrm>
      </p:grpSpPr>
      <p:sp>
        <p:nvSpPr>
          <p:cNvPr id="142" name="Google Shape;142;g146cbe31ecc_0_96:notes">
            <a:extLst>
              <a:ext uri="{FF2B5EF4-FFF2-40B4-BE49-F238E27FC236}">
                <a16:creationId xmlns:a16="http://schemas.microsoft.com/office/drawing/2014/main" id="{5A16262B-4C0A-9761-14CB-9207E5CDEB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a:extLst>
              <a:ext uri="{FF2B5EF4-FFF2-40B4-BE49-F238E27FC236}">
                <a16:creationId xmlns:a16="http://schemas.microsoft.com/office/drawing/2014/main" id="{B72CF169-C36D-57EC-CB62-BE891E09E7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922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52EE9BE8-9078-B1BD-6A2E-206541838964}"/>
            </a:ext>
          </a:extLst>
        </p:cNvPr>
        <p:cNvGrpSpPr/>
        <p:nvPr/>
      </p:nvGrpSpPr>
      <p:grpSpPr>
        <a:xfrm>
          <a:off x="0" y="0"/>
          <a:ext cx="0" cy="0"/>
          <a:chOff x="0" y="0"/>
          <a:chExt cx="0" cy="0"/>
        </a:xfrm>
      </p:grpSpPr>
      <p:sp>
        <p:nvSpPr>
          <p:cNvPr id="142" name="Google Shape;142;g146cbe31ecc_0_96:notes">
            <a:extLst>
              <a:ext uri="{FF2B5EF4-FFF2-40B4-BE49-F238E27FC236}">
                <a16:creationId xmlns:a16="http://schemas.microsoft.com/office/drawing/2014/main" id="{2B5E4367-4FEE-49B5-6BC3-1E32DF93E3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a:extLst>
              <a:ext uri="{FF2B5EF4-FFF2-40B4-BE49-F238E27FC236}">
                <a16:creationId xmlns:a16="http://schemas.microsoft.com/office/drawing/2014/main" id="{261A3F94-C680-BE19-4818-7D2092DA59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0660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44aaa0767c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44aaa0767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2009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6008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6291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3051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44aaa0767c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44aaa0767c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2" y="412830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7"/>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53" name="Google Shape;53;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54" name="Google Shape;54;p7"/>
          <p:cNvPicPr preferRelativeResize="0"/>
          <p:nvPr/>
        </p:nvPicPr>
        <p:blipFill>
          <a:blip r:embed="rId2">
            <a:alphaModFix/>
          </a:blip>
          <a:stretch>
            <a:fillRect/>
          </a:stretch>
        </p:blipFill>
        <p:spPr>
          <a:xfrm>
            <a:off x="8128800" y="0"/>
            <a:ext cx="1015200" cy="1007953"/>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5572981" y="3566823"/>
            <a:ext cx="2641600" cy="14097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8432941" y="4431167"/>
            <a:ext cx="724200" cy="72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9"/>
          <p:cNvSpPr/>
          <p:nvPr/>
        </p:nvSpPr>
        <p:spPr>
          <a:xfrm rot="10800000">
            <a:off x="7701526" y="4431200"/>
            <a:ext cx="731400" cy="730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4" name="Google Shape;64;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9"/>
          <p:cNvSpPr/>
          <p:nvPr/>
        </p:nvSpPr>
        <p:spPr>
          <a:xfrm>
            <a:off x="8418600" y="0"/>
            <a:ext cx="725400" cy="725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67" name="Google Shape;67;p9"/>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315843" y="4618434"/>
            <a:ext cx="673323" cy="38538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
        <p:cNvGrpSpPr/>
        <p:nvPr/>
      </p:nvGrpSpPr>
      <p:grpSpPr>
        <a:xfrm>
          <a:off x="0" y="0"/>
          <a:ext cx="0" cy="0"/>
          <a:chOff x="0" y="0"/>
          <a:chExt cx="0" cy="0"/>
        </a:xfrm>
      </p:grpSpPr>
      <p:sp>
        <p:nvSpPr>
          <p:cNvPr id="90" name="Google Shape;90;p1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174C6D7-FF31-21CE-C315-79ECE561E094}"/>
              </a:ext>
            </a:extLst>
          </p:cNvPr>
          <p:cNvPicPr>
            <a:picLocks noChangeAspect="1"/>
          </p:cNvPicPr>
          <p:nvPr userDrawn="1"/>
        </p:nvPicPr>
        <p:blipFill>
          <a:blip r:embed="rId2"/>
          <a:stretch>
            <a:fillRect/>
          </a:stretch>
        </p:blipFill>
        <p:spPr>
          <a:xfrm>
            <a:off x="5572981" y="3566823"/>
            <a:ext cx="2641600" cy="14097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sp>
        <p:nvSpPr>
          <p:cNvPr id="100" name="Google Shape;100;p15"/>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01" name="Google Shape;101;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E238CB1-F8E6-F156-8915-1A35C64D23E6}"/>
              </a:ext>
            </a:extLst>
          </p:cNvPr>
          <p:cNvPicPr>
            <a:picLocks noChangeAspect="1"/>
          </p:cNvPicPr>
          <p:nvPr userDrawn="1"/>
        </p:nvPicPr>
        <p:blipFill>
          <a:blip r:embed="rId2"/>
          <a:stretch>
            <a:fillRect/>
          </a:stretch>
        </p:blipFill>
        <p:spPr>
          <a:xfrm>
            <a:off x="3251200" y="1866900"/>
            <a:ext cx="2641600" cy="14097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2"/>
        <p:cNvGrpSpPr/>
        <p:nvPr/>
      </p:nvGrpSpPr>
      <p:grpSpPr>
        <a:xfrm>
          <a:off x="0" y="0"/>
          <a:ext cx="0" cy="0"/>
          <a:chOff x="0" y="0"/>
          <a:chExt cx="0" cy="0"/>
        </a:xfrm>
      </p:grpSpPr>
      <p:sp>
        <p:nvSpPr>
          <p:cNvPr id="113" name="Google Shape;113;p1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785EA11A-2524-E462-0CB0-874BA7043CF4}"/>
              </a:ext>
            </a:extLst>
          </p:cNvPr>
          <p:cNvPicPr>
            <a:picLocks noChangeAspect="1"/>
          </p:cNvPicPr>
          <p:nvPr userDrawn="1"/>
        </p:nvPicPr>
        <p:blipFill>
          <a:blip r:embed="rId2"/>
          <a:stretch>
            <a:fillRect/>
          </a:stretch>
        </p:blipFill>
        <p:spPr>
          <a:xfrm>
            <a:off x="5572981" y="3566823"/>
            <a:ext cx="2641600" cy="14097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Dark 1">
  <p:cSld name="Section Header Dark 1">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30" name="Google Shape;30;p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pic>
        <p:nvPicPr>
          <p:cNvPr id="31" name="Google Shape;31;p4"/>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32" name="Google Shape;32;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p:nvPr/>
        </p:nvSpPr>
        <p:spPr>
          <a:xfrm>
            <a:off x="8208900" y="0"/>
            <a:ext cx="935100" cy="935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34;p4"/>
          <p:cNvPicPr preferRelativeResize="0"/>
          <p:nvPr/>
        </p:nvPicPr>
        <p:blipFill>
          <a:blip r:embed="rId3">
            <a:alphaModFix/>
          </a:blip>
          <a:stretch>
            <a:fillRect/>
          </a:stretch>
        </p:blipFill>
        <p:spPr>
          <a:xfrm>
            <a:off x="7273800" y="3350"/>
            <a:ext cx="935100" cy="928411"/>
          </a:xfrm>
          <a:prstGeom prst="rect">
            <a:avLst/>
          </a:prstGeom>
          <a:noFill/>
          <a:ln>
            <a:noFill/>
          </a:ln>
        </p:spPr>
      </p:pic>
      <p:pic>
        <p:nvPicPr>
          <p:cNvPr id="35" name="Google Shape;35;p4"/>
          <p:cNvPicPr preferRelativeResize="0"/>
          <p:nvPr/>
        </p:nvPicPr>
        <p:blipFill>
          <a:blip r:embed="rId4">
            <a:alphaModFix/>
          </a:blip>
          <a:stretch>
            <a:fillRect/>
          </a:stretch>
        </p:blipFill>
        <p:spPr>
          <a:xfrm>
            <a:off x="705588" y="4235030"/>
            <a:ext cx="1194674" cy="3936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2284576" y="4122678"/>
            <a:ext cx="1080274" cy="618303"/>
          </a:xfrm>
          <a:prstGeom prst="rect">
            <a:avLst/>
          </a:prstGeom>
        </p:spPr>
      </p:pic>
      <p:pic>
        <p:nvPicPr>
          <p:cNvPr id="5" name="Graphic 4">
            <a:extLst>
              <a:ext uri="{FF2B5EF4-FFF2-40B4-BE49-F238E27FC236}">
                <a16:creationId xmlns:a16="http://schemas.microsoft.com/office/drawing/2014/main" id="{B988EA2B-C859-1A79-73FD-B64240BEBE0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8234" y="2825864"/>
            <a:ext cx="2660178" cy="2185147"/>
          </a:xfrm>
          <a:prstGeom prst="rect">
            <a:avLst/>
          </a:prstGeom>
        </p:spPr>
      </p:pic>
    </p:spTree>
    <p:extLst>
      <p:ext uri="{BB962C8B-B14F-4D97-AF65-F5344CB8AC3E}">
        <p14:creationId xmlns:p14="http://schemas.microsoft.com/office/powerpoint/2010/main" val="162919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311700" y="410000"/>
            <a:ext cx="66141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0" name="Google Shape;70;p10"/>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1" name="Google Shape;71;p10"/>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2" name="Google Shape;72;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grpSp>
        <p:nvGrpSpPr>
          <p:cNvPr id="73" name="Google Shape;73;p10"/>
          <p:cNvGrpSpPr/>
          <p:nvPr/>
        </p:nvGrpSpPr>
        <p:grpSpPr>
          <a:xfrm>
            <a:off x="6971838" y="-12"/>
            <a:ext cx="2174881" cy="1450030"/>
            <a:chOff x="6098378" y="5"/>
            <a:chExt cx="3045625" cy="2030570"/>
          </a:xfrm>
        </p:grpSpPr>
        <p:sp>
          <p:nvSpPr>
            <p:cNvPr id="74" name="Google Shape;74;p10"/>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10"/>
            <p:cNvSpPr/>
            <p:nvPr/>
          </p:nvSpPr>
          <p:spPr>
            <a:xfrm flipH="1">
              <a:off x="7113463" y="5"/>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10"/>
            <p:cNvSpPr/>
            <p:nvPr/>
          </p:nvSpPr>
          <p:spPr>
            <a:xfrm rot="10800000">
              <a:off x="6098378" y="97"/>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10"/>
            <p:cNvSpPr/>
            <p:nvPr/>
          </p:nvSpPr>
          <p:spPr>
            <a:xfrm rot="10800000">
              <a:off x="8128789" y="101537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78" name="Google Shape;78;p10"/>
          <p:cNvPicPr preferRelativeResize="0"/>
          <p:nvPr/>
        </p:nvPicPr>
        <p:blipFill>
          <a:blip r:embed="rId2">
            <a:alphaModFix/>
          </a:blip>
          <a:stretch>
            <a:fillRect/>
          </a:stretch>
        </p:blipFill>
        <p:spPr>
          <a:xfrm>
            <a:off x="8675950" y="0"/>
            <a:ext cx="470775" cy="470775"/>
          </a:xfrm>
          <a:prstGeom prst="rect">
            <a:avLst/>
          </a:prstGeom>
          <a:noFill/>
          <a:ln>
            <a:noFill/>
          </a:ln>
        </p:spPr>
      </p:pic>
      <p:pic>
        <p:nvPicPr>
          <p:cNvPr id="79" name="Google Shape;79;p10"/>
          <p:cNvPicPr preferRelativeResize="0"/>
          <p:nvPr/>
        </p:nvPicPr>
        <p:blipFill>
          <a:blip r:embed="rId3">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4C3F07AF-469B-D3CF-D9C7-4D2528542FA3}"/>
              </a:ext>
            </a:extLst>
          </p:cNvPr>
          <p:cNvPicPr>
            <a:picLocks noChangeAspect="1"/>
          </p:cNvPicPr>
          <p:nvPr userDrawn="1"/>
        </p:nvPicPr>
        <p:blipFill>
          <a:blip r:embed="rId4"/>
          <a:stretch>
            <a:fillRect/>
          </a:stretch>
        </p:blipFill>
        <p:spPr>
          <a:xfrm>
            <a:off x="1315843" y="4618434"/>
            <a:ext cx="673323" cy="385382"/>
          </a:xfrm>
          <a:prstGeom prst="rect">
            <a:avLst/>
          </a:prstGeom>
        </p:spPr>
      </p:pic>
    </p:spTree>
    <p:extLst>
      <p:ext uri="{BB962C8B-B14F-4D97-AF65-F5344CB8AC3E}">
        <p14:creationId xmlns:p14="http://schemas.microsoft.com/office/powerpoint/2010/main" val="1033043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3" r:id="rId1"/>
    <p:sldLayoutId id="2147483655" r:id="rId2"/>
    <p:sldLayoutId id="2147483659" r:id="rId3"/>
    <p:sldLayoutId id="2147483661" r:id="rId4"/>
    <p:sldLayoutId id="2147483663" r:id="rId5"/>
    <p:sldLayoutId id="2147483665" r:id="rId6"/>
    <p:sldLayoutId id="214748366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9B7BEEEC-414F-F921-8C0B-DAEF378291B5}"/>
            </a:ext>
          </a:extLst>
        </p:cNvPr>
        <p:cNvGrpSpPr/>
        <p:nvPr/>
      </p:nvGrpSpPr>
      <p:grpSpPr>
        <a:xfrm>
          <a:off x="0" y="0"/>
          <a:ext cx="0" cy="0"/>
          <a:chOff x="0" y="0"/>
          <a:chExt cx="0" cy="0"/>
        </a:xfrm>
      </p:grpSpPr>
      <p:sp>
        <p:nvSpPr>
          <p:cNvPr id="122" name="Google Shape;122;p19">
            <a:extLst>
              <a:ext uri="{FF2B5EF4-FFF2-40B4-BE49-F238E27FC236}">
                <a16:creationId xmlns:a16="http://schemas.microsoft.com/office/drawing/2014/main" id="{350290EF-D637-4097-0484-2F3B91B71360}"/>
              </a:ext>
            </a:extLst>
          </p:cNvPr>
          <p:cNvSpPr txBox="1">
            <a:spLocks noGrp="1"/>
          </p:cNvSpPr>
          <p:nvPr>
            <p:ph type="ctrTitle"/>
          </p:nvPr>
        </p:nvSpPr>
        <p:spPr>
          <a:xfrm>
            <a:off x="598099" y="1226378"/>
            <a:ext cx="8410433" cy="1894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OpenChain Monthly Meeting:</a:t>
            </a:r>
            <a:br>
              <a:rPr lang="en-US" dirty="0"/>
            </a:br>
            <a:r>
              <a:rPr lang="en-US" dirty="0"/>
              <a:t>Spec, Education + More</a:t>
            </a:r>
            <a:endParaRPr dirty="0"/>
          </a:p>
        </p:txBody>
      </p:sp>
      <p:sp>
        <p:nvSpPr>
          <p:cNvPr id="123" name="Google Shape;123;p19">
            <a:extLst>
              <a:ext uri="{FF2B5EF4-FFF2-40B4-BE49-F238E27FC236}">
                <a16:creationId xmlns:a16="http://schemas.microsoft.com/office/drawing/2014/main" id="{A63A8B1B-4C8C-870F-9421-DA410B1C2AC9}"/>
              </a:ext>
            </a:extLst>
          </p:cNvPr>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fontScale="92500" lnSpcReduction="20000"/>
          </a:bodyPr>
          <a:lstStyle/>
          <a:p>
            <a:pPr marL="0" lvl="0" indent="0"/>
            <a:r>
              <a:rPr lang="en-US" dirty="0"/>
              <a:t>North America / Europe - 2025-11-19 @ 08:30 UTC</a:t>
            </a:r>
            <a:endParaRPr dirty="0"/>
          </a:p>
        </p:txBody>
      </p:sp>
    </p:spTree>
    <p:extLst>
      <p:ext uri="{BB962C8B-B14F-4D97-AF65-F5344CB8AC3E}">
        <p14:creationId xmlns:p14="http://schemas.microsoft.com/office/powerpoint/2010/main" val="2520644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1FB7760A-A438-CF83-58B9-104D650B44D0}"/>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7A30E041-2553-6337-7E68-DDCF3A20E850}"/>
              </a:ext>
            </a:extLst>
          </p:cNvPr>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Anti-Trust Policy Notice</a:t>
            </a:r>
            <a:endParaRPr dirty="0"/>
          </a:p>
        </p:txBody>
      </p:sp>
      <p:sp>
        <p:nvSpPr>
          <p:cNvPr id="158" name="Google Shape;158;p25">
            <a:extLst>
              <a:ext uri="{FF2B5EF4-FFF2-40B4-BE49-F238E27FC236}">
                <a16:creationId xmlns:a16="http://schemas.microsoft.com/office/drawing/2014/main" id="{888CF8C5-3787-B0CC-C452-3AEA8E7E9D8F}"/>
              </a:ext>
            </a:extLst>
          </p:cNvPr>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fontScale="85000" lnSpcReduction="10000"/>
          </a:bodyPr>
          <a:lstStyle/>
          <a:p>
            <a:pPr marL="285750" indent="-285750">
              <a:spcAft>
                <a:spcPts val="1200"/>
              </a:spcAft>
            </a:pPr>
            <a:r>
              <a:rPr lang="en-US"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pPr marL="285750" indent="-285750">
              <a:spcAft>
                <a:spcPts val="1200"/>
              </a:spcAft>
            </a:pPr>
            <a:r>
              <a:rPr lang="en-US"/>
              <a:t>Examples </a:t>
            </a:r>
            <a:r>
              <a:rPr lang="en-US" dirty="0"/>
              <a:t>of types of actions that are prohibited at Linux Foundation meetings and in connection with Linux Foundation activities are described in the Linux Foundation Antitrust Policy available at http://</a:t>
            </a:r>
            <a:r>
              <a:rPr lang="en-US" dirty="0" err="1"/>
              <a:t>www.linuxfoundation.org</a:t>
            </a:r>
            <a:r>
              <a:rPr lang="en-US" dirty="0"/>
              <a:t>/antitrust-policy. If you have questions about these matters, please contact your company counsel, or if you are a member of the Linux Foundation, feel free to contact Andrew </a:t>
            </a:r>
            <a:r>
              <a:rPr lang="en-US" dirty="0" err="1"/>
              <a:t>Updegrove</a:t>
            </a:r>
            <a:r>
              <a:rPr lang="en-US" dirty="0"/>
              <a:t> of the firm of </a:t>
            </a:r>
            <a:r>
              <a:rPr lang="en-US" dirty="0" err="1"/>
              <a:t>Gesmer</a:t>
            </a:r>
            <a:r>
              <a:rPr lang="en-US" dirty="0"/>
              <a:t> </a:t>
            </a:r>
            <a:r>
              <a:rPr lang="en-US" dirty="0" err="1"/>
              <a:t>Updegrove</a:t>
            </a:r>
            <a:r>
              <a:rPr lang="en-US" dirty="0"/>
              <a:t> LLP, which provides legal counsel to the Linux Foundation.</a:t>
            </a:r>
          </a:p>
          <a:p>
            <a:pPr marL="0" lvl="0" indent="0" algn="l" rtl="0">
              <a:spcBef>
                <a:spcPts val="0"/>
              </a:spcBef>
              <a:spcAft>
                <a:spcPts val="1200"/>
              </a:spcAft>
              <a:buNone/>
            </a:pPr>
            <a:endParaRPr lang="en-US" dirty="0"/>
          </a:p>
          <a:p>
            <a:pPr marL="0" lvl="0" indent="0" algn="l" rtl="0">
              <a:spcBef>
                <a:spcPts val="0"/>
              </a:spcBef>
              <a:spcAft>
                <a:spcPts val="1200"/>
              </a:spcAft>
              <a:buNone/>
            </a:pPr>
            <a:endParaRPr dirty="0"/>
          </a:p>
        </p:txBody>
      </p:sp>
    </p:spTree>
    <p:extLst>
      <p:ext uri="{BB962C8B-B14F-4D97-AF65-F5344CB8AC3E}">
        <p14:creationId xmlns:p14="http://schemas.microsoft.com/office/powerpoint/2010/main" val="1223967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9B48FC86-A1B4-E438-A1F8-D3BC1E792783}"/>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85E02CB8-4AA3-CD52-A1C3-AFC55D9F36CB}"/>
              </a:ext>
            </a:extLst>
          </p:cNvPr>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Agenda</a:t>
            </a:r>
            <a:endParaRPr dirty="0"/>
          </a:p>
        </p:txBody>
      </p:sp>
      <p:sp>
        <p:nvSpPr>
          <p:cNvPr id="158" name="Google Shape;158;p25">
            <a:extLst>
              <a:ext uri="{FF2B5EF4-FFF2-40B4-BE49-F238E27FC236}">
                <a16:creationId xmlns:a16="http://schemas.microsoft.com/office/drawing/2014/main" id="{BB4CE212-D959-F666-8F64-603FBE19B24D}"/>
              </a:ext>
            </a:extLst>
          </p:cNvPr>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342900">
              <a:spcAft>
                <a:spcPts val="1200"/>
              </a:spcAft>
              <a:buSzPct val="100000"/>
              <a:buFont typeface="+mj-lt"/>
              <a:buAutoNum type="arabicPeriod"/>
            </a:pPr>
            <a:r>
              <a:rPr lang="en-US" dirty="0"/>
              <a:t>OpenChain Project News</a:t>
            </a:r>
          </a:p>
          <a:p>
            <a:pPr marL="342900">
              <a:spcAft>
                <a:spcPts val="1200"/>
              </a:spcAft>
              <a:buSzPct val="100000"/>
              <a:buFont typeface="+mj-lt"/>
              <a:buAutoNum type="arabicPeriod"/>
            </a:pPr>
            <a:r>
              <a:rPr lang="en-US" dirty="0"/>
              <a:t>Specification Work Group – Next steps in developing our ISO standards</a:t>
            </a:r>
          </a:p>
          <a:p>
            <a:pPr marL="342900">
              <a:spcAft>
                <a:spcPts val="1200"/>
              </a:spcAft>
              <a:buSzPct val="100000"/>
              <a:buFont typeface="+mj-lt"/>
              <a:buAutoNum type="arabicPeriod"/>
            </a:pPr>
            <a:r>
              <a:rPr lang="en-US" dirty="0"/>
              <a:t>Education Work Group – Continued work on training material</a:t>
            </a:r>
          </a:p>
          <a:p>
            <a:pPr marL="342900">
              <a:spcAft>
                <a:spcPts val="1200"/>
              </a:spcAft>
              <a:buSzPct val="100000"/>
              <a:buFont typeface="+mj-lt"/>
              <a:buAutoNum type="arabicPeriod"/>
            </a:pPr>
            <a:r>
              <a:rPr lang="en-US" dirty="0"/>
              <a:t>Any Other Business?</a:t>
            </a:r>
          </a:p>
        </p:txBody>
      </p:sp>
    </p:spTree>
    <p:extLst>
      <p:ext uri="{BB962C8B-B14F-4D97-AF65-F5344CB8AC3E}">
        <p14:creationId xmlns:p14="http://schemas.microsoft.com/office/powerpoint/2010/main" val="1230439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0A0571AB-4228-68E7-D9B8-CD992B0461E4}"/>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E0C342DE-DE73-E620-CBB2-205F3359C07F}"/>
              </a:ext>
            </a:extLst>
          </p:cNvPr>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OpenChain Project News</a:t>
            </a:r>
            <a:endParaRPr dirty="0"/>
          </a:p>
        </p:txBody>
      </p:sp>
    </p:spTree>
    <p:extLst>
      <p:ext uri="{BB962C8B-B14F-4D97-AF65-F5344CB8AC3E}">
        <p14:creationId xmlns:p14="http://schemas.microsoft.com/office/powerpoint/2010/main" val="138981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web page&#10;&#10;AI-generated content may be incorrect.">
            <a:extLst>
              <a:ext uri="{FF2B5EF4-FFF2-40B4-BE49-F238E27FC236}">
                <a16:creationId xmlns:a16="http://schemas.microsoft.com/office/drawing/2014/main" id="{493D0E59-63EB-3898-B71E-85C446D9A5F9}"/>
              </a:ext>
            </a:extLst>
          </p:cNvPr>
          <p:cNvPicPr>
            <a:picLocks noChangeAspect="1"/>
          </p:cNvPicPr>
          <p:nvPr/>
        </p:nvPicPr>
        <p:blipFill>
          <a:blip r:embed="rId2"/>
          <a:srcRect t="21119"/>
          <a:stretch>
            <a:fillRect/>
          </a:stretch>
        </p:blipFill>
        <p:spPr>
          <a:xfrm>
            <a:off x="345688" y="984250"/>
            <a:ext cx="7089826" cy="3383364"/>
          </a:xfrm>
          <a:prstGeom prst="rect">
            <a:avLst/>
          </a:prstGeom>
        </p:spPr>
      </p:pic>
      <p:pic>
        <p:nvPicPr>
          <p:cNvPr id="7" name="Picture 6" descr="A qr code with black squares&#10;&#10;AI-generated content may be incorrect.">
            <a:extLst>
              <a:ext uri="{FF2B5EF4-FFF2-40B4-BE49-F238E27FC236}">
                <a16:creationId xmlns:a16="http://schemas.microsoft.com/office/drawing/2014/main" id="{3E1961C8-28E2-7CE0-91E5-289C6E43D1F4}"/>
              </a:ext>
            </a:extLst>
          </p:cNvPr>
          <p:cNvPicPr>
            <a:picLocks noChangeAspect="1"/>
          </p:cNvPicPr>
          <p:nvPr/>
        </p:nvPicPr>
        <p:blipFill>
          <a:blip r:embed="rId3"/>
          <a:stretch>
            <a:fillRect/>
          </a:stretch>
        </p:blipFill>
        <p:spPr>
          <a:xfrm>
            <a:off x="5623312" y="984250"/>
            <a:ext cx="3175000" cy="3175000"/>
          </a:xfrm>
          <a:prstGeom prst="rect">
            <a:avLst/>
          </a:prstGeom>
        </p:spPr>
      </p:pic>
      <p:sp>
        <p:nvSpPr>
          <p:cNvPr id="2" name="Title 1">
            <a:extLst>
              <a:ext uri="{FF2B5EF4-FFF2-40B4-BE49-F238E27FC236}">
                <a16:creationId xmlns:a16="http://schemas.microsoft.com/office/drawing/2014/main" id="{FFE20218-BC54-7C72-D2B4-3601BA0B5191}"/>
              </a:ext>
            </a:extLst>
          </p:cNvPr>
          <p:cNvSpPr>
            <a:spLocks noGrp="1"/>
          </p:cNvSpPr>
          <p:nvPr>
            <p:ph type="title"/>
          </p:nvPr>
        </p:nvSpPr>
        <p:spPr/>
        <p:txBody>
          <a:bodyPr>
            <a:normAutofit fontScale="90000"/>
          </a:bodyPr>
          <a:lstStyle/>
          <a:p>
            <a:r>
              <a:rPr lang="en-JP" dirty="0"/>
              <a:t>Main News Item:</a:t>
            </a:r>
          </a:p>
        </p:txBody>
      </p:sp>
      <p:sp>
        <p:nvSpPr>
          <p:cNvPr id="3" name="TextBox 2">
            <a:extLst>
              <a:ext uri="{FF2B5EF4-FFF2-40B4-BE49-F238E27FC236}">
                <a16:creationId xmlns:a16="http://schemas.microsoft.com/office/drawing/2014/main" id="{2E59D147-BF9A-40BB-B18C-C98B00ED3EC4}"/>
              </a:ext>
            </a:extLst>
          </p:cNvPr>
          <p:cNvSpPr txBox="1"/>
          <p:nvPr/>
        </p:nvSpPr>
        <p:spPr>
          <a:xfrm>
            <a:off x="2283107" y="4834142"/>
            <a:ext cx="5525872" cy="215444"/>
          </a:xfrm>
          <a:prstGeom prst="rect">
            <a:avLst/>
          </a:prstGeom>
          <a:noFill/>
        </p:spPr>
        <p:txBody>
          <a:bodyPr wrap="none" rtlCol="0">
            <a:spAutoFit/>
          </a:bodyPr>
          <a:lstStyle/>
          <a:p>
            <a:r>
              <a:rPr lang="en-US" sz="800" dirty="0"/>
              <a:t>https://</a:t>
            </a:r>
            <a:r>
              <a:rPr lang="en-US" sz="800" dirty="0" err="1"/>
              <a:t>openchainproject.org</a:t>
            </a:r>
            <a:r>
              <a:rPr lang="en-US" sz="800" dirty="0"/>
              <a:t>/news/2025/10/20/welcoming-the-openchain-ai-system-bill-of-materials-compliance-guide</a:t>
            </a:r>
            <a:endParaRPr lang="en-JP" sz="800" dirty="0"/>
          </a:p>
        </p:txBody>
      </p:sp>
    </p:spTree>
    <p:extLst>
      <p:ext uri="{BB962C8B-B14F-4D97-AF65-F5344CB8AC3E}">
        <p14:creationId xmlns:p14="http://schemas.microsoft.com/office/powerpoint/2010/main" val="47861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E2B8-4C7A-2D80-3746-85B2F68B60B8}"/>
              </a:ext>
            </a:extLst>
          </p:cNvPr>
          <p:cNvSpPr>
            <a:spLocks noGrp="1"/>
          </p:cNvSpPr>
          <p:nvPr>
            <p:ph type="title"/>
          </p:nvPr>
        </p:nvSpPr>
        <p:spPr>
          <a:xfrm>
            <a:off x="311700" y="136853"/>
            <a:ext cx="8520600" cy="607800"/>
          </a:xfrm>
        </p:spPr>
        <p:txBody>
          <a:bodyPr>
            <a:normAutofit fontScale="90000"/>
          </a:bodyPr>
          <a:lstStyle/>
          <a:p>
            <a:r>
              <a:rPr lang="en-JP" dirty="0"/>
              <a:t>Other Key Project News</a:t>
            </a:r>
          </a:p>
        </p:txBody>
      </p:sp>
      <p:sp>
        <p:nvSpPr>
          <p:cNvPr id="3" name="Text Placeholder 2">
            <a:extLst>
              <a:ext uri="{FF2B5EF4-FFF2-40B4-BE49-F238E27FC236}">
                <a16:creationId xmlns:a16="http://schemas.microsoft.com/office/drawing/2014/main" id="{D781B545-61B1-7B1E-E47F-9486E02D410B}"/>
              </a:ext>
            </a:extLst>
          </p:cNvPr>
          <p:cNvSpPr>
            <a:spLocks noGrp="1"/>
          </p:cNvSpPr>
          <p:nvPr>
            <p:ph type="body" idx="1"/>
          </p:nvPr>
        </p:nvSpPr>
        <p:spPr>
          <a:xfrm>
            <a:off x="311700" y="1077759"/>
            <a:ext cx="8520600" cy="3430839"/>
          </a:xfrm>
        </p:spPr>
        <p:txBody>
          <a:bodyPr>
            <a:normAutofit/>
          </a:bodyPr>
          <a:lstStyle/>
          <a:p>
            <a:pPr marL="114300" indent="0">
              <a:buNone/>
            </a:pPr>
            <a:r>
              <a:rPr lang="en-JP" sz="1600" b="1" dirty="0"/>
              <a:t>Conformance (ISO/IEC 5230):</a:t>
            </a:r>
          </a:p>
          <a:p>
            <a:pPr marL="114300" indent="0">
              <a:buNone/>
            </a:pPr>
            <a:endParaRPr lang="en-JP" sz="1600" b="1" dirty="0"/>
          </a:p>
          <a:p>
            <a:pPr marL="114300" indent="0">
              <a:buNone/>
            </a:pPr>
            <a:endParaRPr lang="en-JP" sz="1600" b="1" dirty="0"/>
          </a:p>
          <a:p>
            <a:pPr marL="114300" indent="0">
              <a:buNone/>
            </a:pPr>
            <a:endParaRPr lang="en-JP" sz="1600" b="1" dirty="0"/>
          </a:p>
          <a:p>
            <a:pPr marL="114300" indent="0">
              <a:buNone/>
            </a:pPr>
            <a:endParaRPr lang="en-JP" sz="1600" b="1" dirty="0"/>
          </a:p>
          <a:p>
            <a:pPr marL="114300" indent="0">
              <a:buNone/>
            </a:pPr>
            <a:endParaRPr lang="en-JP" sz="1600" b="1" dirty="0"/>
          </a:p>
          <a:p>
            <a:pPr marL="114300" indent="0">
              <a:buNone/>
            </a:pPr>
            <a:endParaRPr lang="en-JP" sz="1600" b="1" dirty="0"/>
          </a:p>
          <a:p>
            <a:pPr marL="114300" indent="0">
              <a:buNone/>
            </a:pPr>
            <a:r>
              <a:rPr lang="en-JP" sz="1600" b="1" dirty="0"/>
              <a:t>New partners:			New webinars</a:t>
            </a:r>
            <a:br>
              <a:rPr lang="en-JP" sz="1600" b="1" dirty="0"/>
            </a:br>
            <a:r>
              <a:rPr lang="en-JP" sz="1600" b="1" dirty="0"/>
              <a:t>				&amp; briefings: </a:t>
            </a:r>
          </a:p>
        </p:txBody>
      </p:sp>
      <p:pic>
        <p:nvPicPr>
          <p:cNvPr id="6" name="Picture 5">
            <a:extLst>
              <a:ext uri="{FF2B5EF4-FFF2-40B4-BE49-F238E27FC236}">
                <a16:creationId xmlns:a16="http://schemas.microsoft.com/office/drawing/2014/main" id="{F7C14E25-7E73-DE54-E5AD-7FFCD4CB212A}"/>
              </a:ext>
            </a:extLst>
          </p:cNvPr>
          <p:cNvPicPr>
            <a:picLocks noChangeAspect="1"/>
          </p:cNvPicPr>
          <p:nvPr/>
        </p:nvPicPr>
        <p:blipFill>
          <a:blip r:embed="rId2"/>
          <a:stretch>
            <a:fillRect/>
          </a:stretch>
        </p:blipFill>
        <p:spPr>
          <a:xfrm>
            <a:off x="5964698" y="1574022"/>
            <a:ext cx="3119224" cy="1870316"/>
          </a:xfrm>
          <a:prstGeom prst="rect">
            <a:avLst/>
          </a:prstGeom>
        </p:spPr>
      </p:pic>
      <p:pic>
        <p:nvPicPr>
          <p:cNvPr id="8" name="Picture 7" descr="A colorful logo on a black background&#10;&#10;AI-generated content may be incorrect.">
            <a:extLst>
              <a:ext uri="{FF2B5EF4-FFF2-40B4-BE49-F238E27FC236}">
                <a16:creationId xmlns:a16="http://schemas.microsoft.com/office/drawing/2014/main" id="{E155934F-652C-B5DB-92E1-532D441875DA}"/>
              </a:ext>
            </a:extLst>
          </p:cNvPr>
          <p:cNvPicPr>
            <a:picLocks noChangeAspect="1"/>
          </p:cNvPicPr>
          <p:nvPr/>
        </p:nvPicPr>
        <p:blipFill>
          <a:blip r:embed="rId3"/>
          <a:stretch>
            <a:fillRect/>
          </a:stretch>
        </p:blipFill>
        <p:spPr>
          <a:xfrm>
            <a:off x="3718073" y="1904782"/>
            <a:ext cx="2417584" cy="1181229"/>
          </a:xfrm>
          <a:prstGeom prst="rect">
            <a:avLst/>
          </a:prstGeom>
        </p:spPr>
      </p:pic>
      <p:pic>
        <p:nvPicPr>
          <p:cNvPr id="10" name="Picture 9" descr="A colorful logo on a black background&#10;&#10;AI-generated content may be incorrect.">
            <a:extLst>
              <a:ext uri="{FF2B5EF4-FFF2-40B4-BE49-F238E27FC236}">
                <a16:creationId xmlns:a16="http://schemas.microsoft.com/office/drawing/2014/main" id="{1CC48F6C-9D7A-988D-3971-2664CDCBF4EA}"/>
              </a:ext>
            </a:extLst>
          </p:cNvPr>
          <p:cNvPicPr>
            <a:picLocks noChangeAspect="1"/>
          </p:cNvPicPr>
          <p:nvPr/>
        </p:nvPicPr>
        <p:blipFill>
          <a:blip r:embed="rId4"/>
          <a:stretch>
            <a:fillRect/>
          </a:stretch>
        </p:blipFill>
        <p:spPr>
          <a:xfrm>
            <a:off x="3626681" y="652958"/>
            <a:ext cx="1611368" cy="1427315"/>
          </a:xfrm>
          <a:prstGeom prst="rect">
            <a:avLst/>
          </a:prstGeom>
        </p:spPr>
      </p:pic>
      <p:pic>
        <p:nvPicPr>
          <p:cNvPr id="12" name="Picture 11" descr="A black and white logo&#10;&#10;AI-generated content may be incorrect.">
            <a:extLst>
              <a:ext uri="{FF2B5EF4-FFF2-40B4-BE49-F238E27FC236}">
                <a16:creationId xmlns:a16="http://schemas.microsoft.com/office/drawing/2014/main" id="{8FFAFE81-016F-7A00-68D2-AA86C81FFCF8}"/>
              </a:ext>
            </a:extLst>
          </p:cNvPr>
          <p:cNvPicPr>
            <a:picLocks noChangeAspect="1"/>
          </p:cNvPicPr>
          <p:nvPr/>
        </p:nvPicPr>
        <p:blipFill>
          <a:blip r:embed="rId5"/>
          <a:stretch>
            <a:fillRect/>
          </a:stretch>
        </p:blipFill>
        <p:spPr>
          <a:xfrm>
            <a:off x="596717" y="2246826"/>
            <a:ext cx="3032158" cy="507710"/>
          </a:xfrm>
          <a:prstGeom prst="rect">
            <a:avLst/>
          </a:prstGeom>
        </p:spPr>
      </p:pic>
      <p:pic>
        <p:nvPicPr>
          <p:cNvPr id="14" name="Picture 13" descr="A black and grey logo&#10;&#10;AI-generated content may be incorrect.">
            <a:extLst>
              <a:ext uri="{FF2B5EF4-FFF2-40B4-BE49-F238E27FC236}">
                <a16:creationId xmlns:a16="http://schemas.microsoft.com/office/drawing/2014/main" id="{FA002CDE-46A8-A0D9-0E35-08180A1E4B6E}"/>
              </a:ext>
            </a:extLst>
          </p:cNvPr>
          <p:cNvPicPr>
            <a:picLocks noChangeAspect="1"/>
          </p:cNvPicPr>
          <p:nvPr/>
        </p:nvPicPr>
        <p:blipFill>
          <a:blip r:embed="rId6"/>
          <a:stretch>
            <a:fillRect/>
          </a:stretch>
        </p:blipFill>
        <p:spPr>
          <a:xfrm>
            <a:off x="5464361" y="993692"/>
            <a:ext cx="3391506" cy="751631"/>
          </a:xfrm>
          <a:prstGeom prst="rect">
            <a:avLst/>
          </a:prstGeom>
        </p:spPr>
      </p:pic>
      <p:pic>
        <p:nvPicPr>
          <p:cNvPr id="16" name="Picture 15" descr="A black text on a white background&#10;&#10;AI-generated content may be incorrect.">
            <a:extLst>
              <a:ext uri="{FF2B5EF4-FFF2-40B4-BE49-F238E27FC236}">
                <a16:creationId xmlns:a16="http://schemas.microsoft.com/office/drawing/2014/main" id="{87B27604-1C72-5CE3-DADF-F62B215FE405}"/>
              </a:ext>
            </a:extLst>
          </p:cNvPr>
          <p:cNvPicPr>
            <a:picLocks noChangeAspect="1"/>
          </p:cNvPicPr>
          <p:nvPr/>
        </p:nvPicPr>
        <p:blipFill>
          <a:blip r:embed="rId7"/>
          <a:stretch>
            <a:fillRect/>
          </a:stretch>
        </p:blipFill>
        <p:spPr>
          <a:xfrm>
            <a:off x="1983886" y="3112229"/>
            <a:ext cx="1905000" cy="381000"/>
          </a:xfrm>
          <a:prstGeom prst="rect">
            <a:avLst/>
          </a:prstGeom>
        </p:spPr>
      </p:pic>
      <p:pic>
        <p:nvPicPr>
          <p:cNvPr id="18" name="Picture 17" descr="A black background with orange and yellow circles&#10;&#10;AI-generated content may be incorrect.">
            <a:extLst>
              <a:ext uri="{FF2B5EF4-FFF2-40B4-BE49-F238E27FC236}">
                <a16:creationId xmlns:a16="http://schemas.microsoft.com/office/drawing/2014/main" id="{8C4D21B9-330D-48CA-D97D-522BD73F5F91}"/>
              </a:ext>
            </a:extLst>
          </p:cNvPr>
          <p:cNvPicPr>
            <a:picLocks noChangeAspect="1"/>
          </p:cNvPicPr>
          <p:nvPr/>
        </p:nvPicPr>
        <p:blipFill>
          <a:blip r:embed="rId8"/>
          <a:stretch>
            <a:fillRect/>
          </a:stretch>
        </p:blipFill>
        <p:spPr>
          <a:xfrm>
            <a:off x="1868243" y="3471158"/>
            <a:ext cx="2136286" cy="967102"/>
          </a:xfrm>
          <a:prstGeom prst="rect">
            <a:avLst/>
          </a:prstGeom>
        </p:spPr>
      </p:pic>
      <p:sp>
        <p:nvSpPr>
          <p:cNvPr id="19" name="TextBox 18">
            <a:extLst>
              <a:ext uri="{FF2B5EF4-FFF2-40B4-BE49-F238E27FC236}">
                <a16:creationId xmlns:a16="http://schemas.microsoft.com/office/drawing/2014/main" id="{B87889CD-F340-80C6-817D-D8B9BFCDB1AF}"/>
              </a:ext>
            </a:extLst>
          </p:cNvPr>
          <p:cNvSpPr txBox="1"/>
          <p:nvPr/>
        </p:nvSpPr>
        <p:spPr>
          <a:xfrm>
            <a:off x="6109826" y="3129021"/>
            <a:ext cx="1050288" cy="307777"/>
          </a:xfrm>
          <a:prstGeom prst="rect">
            <a:avLst/>
          </a:prstGeom>
          <a:noFill/>
        </p:spPr>
        <p:txBody>
          <a:bodyPr wrap="none" rtlCol="0">
            <a:spAutoFit/>
          </a:bodyPr>
          <a:lstStyle/>
          <a:p>
            <a:r>
              <a:rPr lang="en-JP" dirty="0"/>
              <a:t>Containers</a:t>
            </a:r>
          </a:p>
        </p:txBody>
      </p:sp>
      <p:sp>
        <p:nvSpPr>
          <p:cNvPr id="20" name="TextBox 19">
            <a:extLst>
              <a:ext uri="{FF2B5EF4-FFF2-40B4-BE49-F238E27FC236}">
                <a16:creationId xmlns:a16="http://schemas.microsoft.com/office/drawing/2014/main" id="{FF5879E4-BAE4-64B0-F035-1FC11AC8451E}"/>
              </a:ext>
            </a:extLst>
          </p:cNvPr>
          <p:cNvSpPr txBox="1"/>
          <p:nvPr/>
        </p:nvSpPr>
        <p:spPr>
          <a:xfrm>
            <a:off x="7903058" y="3123039"/>
            <a:ext cx="564578" cy="307777"/>
          </a:xfrm>
          <a:prstGeom prst="rect">
            <a:avLst/>
          </a:prstGeom>
          <a:noFill/>
        </p:spPr>
        <p:txBody>
          <a:bodyPr wrap="none" rtlCol="0">
            <a:spAutoFit/>
          </a:bodyPr>
          <a:lstStyle/>
          <a:p>
            <a:r>
              <a:rPr lang="en-JP" dirty="0"/>
              <a:t>CRA</a:t>
            </a:r>
          </a:p>
        </p:txBody>
      </p:sp>
      <p:pic>
        <p:nvPicPr>
          <p:cNvPr id="22" name="Picture 21" descr="A qr code with black squares&#10;&#10;AI-generated content may be incorrect.">
            <a:extLst>
              <a:ext uri="{FF2B5EF4-FFF2-40B4-BE49-F238E27FC236}">
                <a16:creationId xmlns:a16="http://schemas.microsoft.com/office/drawing/2014/main" id="{7DE587CB-EDFE-80B1-E2A3-14E4C2876F25}"/>
              </a:ext>
            </a:extLst>
          </p:cNvPr>
          <p:cNvPicPr>
            <a:picLocks noChangeAspect="1"/>
          </p:cNvPicPr>
          <p:nvPr/>
        </p:nvPicPr>
        <p:blipFill>
          <a:blip r:embed="rId9"/>
          <a:stretch>
            <a:fillRect/>
          </a:stretch>
        </p:blipFill>
        <p:spPr>
          <a:xfrm>
            <a:off x="6080341" y="3349642"/>
            <a:ext cx="1088618" cy="1088618"/>
          </a:xfrm>
          <a:prstGeom prst="rect">
            <a:avLst/>
          </a:prstGeom>
        </p:spPr>
      </p:pic>
      <p:pic>
        <p:nvPicPr>
          <p:cNvPr id="24" name="Picture 23" descr="A qr code with black squares&#10;&#10;AI-generated content may be incorrect.">
            <a:extLst>
              <a:ext uri="{FF2B5EF4-FFF2-40B4-BE49-F238E27FC236}">
                <a16:creationId xmlns:a16="http://schemas.microsoft.com/office/drawing/2014/main" id="{63D27F88-9FCD-0666-ADEA-F2C2045D76F9}"/>
              </a:ext>
            </a:extLst>
          </p:cNvPr>
          <p:cNvPicPr>
            <a:picLocks noChangeAspect="1"/>
          </p:cNvPicPr>
          <p:nvPr/>
        </p:nvPicPr>
        <p:blipFill>
          <a:blip r:embed="rId10"/>
          <a:stretch>
            <a:fillRect/>
          </a:stretch>
        </p:blipFill>
        <p:spPr>
          <a:xfrm>
            <a:off x="7641038" y="3349642"/>
            <a:ext cx="1088618" cy="1088618"/>
          </a:xfrm>
          <a:prstGeom prst="rect">
            <a:avLst/>
          </a:prstGeom>
        </p:spPr>
      </p:pic>
      <p:sp>
        <p:nvSpPr>
          <p:cNvPr id="4" name="TextBox 3">
            <a:extLst>
              <a:ext uri="{FF2B5EF4-FFF2-40B4-BE49-F238E27FC236}">
                <a16:creationId xmlns:a16="http://schemas.microsoft.com/office/drawing/2014/main" id="{35FBC196-CA87-BB0C-8DEB-49EA53882AEA}"/>
              </a:ext>
            </a:extLst>
          </p:cNvPr>
          <p:cNvSpPr txBox="1"/>
          <p:nvPr/>
        </p:nvSpPr>
        <p:spPr>
          <a:xfrm>
            <a:off x="2696071" y="4668057"/>
            <a:ext cx="4495141" cy="215444"/>
          </a:xfrm>
          <a:prstGeom prst="rect">
            <a:avLst/>
          </a:prstGeom>
          <a:noFill/>
        </p:spPr>
        <p:txBody>
          <a:bodyPr wrap="none" rtlCol="0">
            <a:spAutoFit/>
          </a:bodyPr>
          <a:lstStyle/>
          <a:p>
            <a:r>
              <a:rPr lang="en-US" sz="800" dirty="0"/>
              <a:t>Containers: https://</a:t>
            </a:r>
            <a:r>
              <a:rPr lang="en-US" sz="800" dirty="0" err="1"/>
              <a:t>openchainproject.org</a:t>
            </a:r>
            <a:r>
              <a:rPr lang="en-US" sz="800" dirty="0"/>
              <a:t>/news/2025/11/07/webinar-containers-and-compliance</a:t>
            </a:r>
            <a:endParaRPr lang="en-JP" sz="800" dirty="0"/>
          </a:p>
        </p:txBody>
      </p:sp>
      <p:sp>
        <p:nvSpPr>
          <p:cNvPr id="5" name="TextBox 4">
            <a:extLst>
              <a:ext uri="{FF2B5EF4-FFF2-40B4-BE49-F238E27FC236}">
                <a16:creationId xmlns:a16="http://schemas.microsoft.com/office/drawing/2014/main" id="{83314A85-A337-5345-FA32-120AA1EC89B1}"/>
              </a:ext>
            </a:extLst>
          </p:cNvPr>
          <p:cNvSpPr txBox="1"/>
          <p:nvPr/>
        </p:nvSpPr>
        <p:spPr>
          <a:xfrm>
            <a:off x="2696071" y="4841704"/>
            <a:ext cx="4128053" cy="215444"/>
          </a:xfrm>
          <a:prstGeom prst="rect">
            <a:avLst/>
          </a:prstGeom>
          <a:noFill/>
        </p:spPr>
        <p:txBody>
          <a:bodyPr wrap="none" rtlCol="0">
            <a:spAutoFit/>
          </a:bodyPr>
          <a:lstStyle/>
          <a:p>
            <a:r>
              <a:rPr lang="en-US" sz="800" dirty="0"/>
              <a:t>CRA: https://</a:t>
            </a:r>
            <a:r>
              <a:rPr lang="en-US" sz="800" dirty="0" err="1"/>
              <a:t>openchainproject.org</a:t>
            </a:r>
            <a:r>
              <a:rPr lang="en-US" sz="800" dirty="0"/>
              <a:t>/news/2025/10/29/openchain-meridian-22-meeting-1</a:t>
            </a:r>
            <a:endParaRPr lang="en-JP" sz="800" dirty="0"/>
          </a:p>
        </p:txBody>
      </p:sp>
    </p:spTree>
    <p:extLst>
      <p:ext uri="{BB962C8B-B14F-4D97-AF65-F5344CB8AC3E}">
        <p14:creationId xmlns:p14="http://schemas.microsoft.com/office/powerpoint/2010/main" val="3516246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0EE17C6-53A2-B920-3F80-6EB37341C9DF}"/>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94A3758D-64D1-FE35-AE0F-593D8CC9E704}"/>
              </a:ext>
            </a:extLst>
          </p:cNvPr>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Specification Work Group</a:t>
            </a:r>
            <a:endParaRPr dirty="0"/>
          </a:p>
        </p:txBody>
      </p:sp>
      <p:pic>
        <p:nvPicPr>
          <p:cNvPr id="2" name="Picture 1" descr="A person in a suit and tie&#10;&#10;AI-generated content may be incorrect.">
            <a:extLst>
              <a:ext uri="{FF2B5EF4-FFF2-40B4-BE49-F238E27FC236}">
                <a16:creationId xmlns:a16="http://schemas.microsoft.com/office/drawing/2014/main" id="{159D15C5-F612-45F3-9FA5-CFEC3B1C6601}"/>
              </a:ext>
            </a:extLst>
          </p:cNvPr>
          <p:cNvPicPr>
            <a:picLocks noChangeAspect="1"/>
          </p:cNvPicPr>
          <p:nvPr/>
        </p:nvPicPr>
        <p:blipFill>
          <a:blip r:embed="rId3"/>
          <a:stretch>
            <a:fillRect/>
          </a:stretch>
        </p:blipFill>
        <p:spPr>
          <a:xfrm>
            <a:off x="7931820" y="0"/>
            <a:ext cx="1212180" cy="1212180"/>
          </a:xfrm>
          <a:prstGeom prst="rect">
            <a:avLst/>
          </a:prstGeom>
        </p:spPr>
      </p:pic>
    </p:spTree>
    <p:extLst>
      <p:ext uri="{BB962C8B-B14F-4D97-AF65-F5344CB8AC3E}">
        <p14:creationId xmlns:p14="http://schemas.microsoft.com/office/powerpoint/2010/main" val="2802215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311700" y="410000"/>
            <a:ext cx="7450972"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Sister Standards - Processes for Programs</a:t>
            </a:r>
            <a:endParaRPr dirty="0"/>
          </a:p>
        </p:txBody>
      </p:sp>
      <p:sp>
        <p:nvSpPr>
          <p:cNvPr id="7" name="Google Shape;151;p24">
            <a:extLst>
              <a:ext uri="{FF2B5EF4-FFF2-40B4-BE49-F238E27FC236}">
                <a16:creationId xmlns:a16="http://schemas.microsoft.com/office/drawing/2014/main" id="{301E483D-A115-2A3A-382C-DDEC6DB45752}"/>
              </a:ext>
            </a:extLst>
          </p:cNvPr>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b="1" dirty="0"/>
              <a:t>ISO/IEC 5230 (License Compliance)</a:t>
            </a:r>
          </a:p>
        </p:txBody>
      </p:sp>
      <p:sp>
        <p:nvSpPr>
          <p:cNvPr id="8" name="Google Shape;152;p24">
            <a:extLst>
              <a:ext uri="{FF2B5EF4-FFF2-40B4-BE49-F238E27FC236}">
                <a16:creationId xmlns:a16="http://schemas.microsoft.com/office/drawing/2014/main" id="{01CAEC07-C907-4C6B-EEBB-30682893BF4D}"/>
              </a:ext>
            </a:extLst>
          </p:cNvPr>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b="1" dirty="0"/>
              <a:t>ISO/IEC 18974 (Security Assurance)</a:t>
            </a:r>
          </a:p>
        </p:txBody>
      </p:sp>
      <p:sp>
        <p:nvSpPr>
          <p:cNvPr id="9" name="Google Shape;151;p24">
            <a:extLst>
              <a:ext uri="{FF2B5EF4-FFF2-40B4-BE49-F238E27FC236}">
                <a16:creationId xmlns:a16="http://schemas.microsoft.com/office/drawing/2014/main" id="{8FF4B1E6-F1B5-740A-02BD-A8FDB4BE8261}"/>
              </a:ext>
            </a:extLst>
          </p:cNvPr>
          <p:cNvSpPr txBox="1">
            <a:spLocks/>
          </p:cNvSpPr>
          <p:nvPr/>
        </p:nvSpPr>
        <p:spPr>
          <a:xfrm>
            <a:off x="2837026" y="2041280"/>
            <a:ext cx="3469947" cy="2721791"/>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1pPr>
            <a:lvl2pPr marL="914400" marR="0" lvl="1"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2pPr>
            <a:lvl3pPr marL="1371600" marR="0" lvl="2"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3pPr>
            <a:lvl4pPr marL="1828800" marR="0" lvl="3"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4pPr>
            <a:lvl5pPr marL="2286000" marR="0" lvl="4"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5pPr>
            <a:lvl6pPr marL="2743200" marR="0" lvl="5"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6pPr>
            <a:lvl7pPr marL="3200400" marR="0" lvl="6"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7pPr>
            <a:lvl8pPr marL="3657600" marR="0" lvl="7"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8pPr>
            <a:lvl9pPr marL="4114800" marR="0" lvl="8"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9pPr>
          </a:lstStyle>
          <a:p>
            <a:pPr marL="0" indent="0" algn="ctr">
              <a:spcAft>
                <a:spcPts val="1200"/>
              </a:spcAft>
              <a:buNone/>
            </a:pPr>
            <a:r>
              <a:rPr lang="en-US" b="1" i="1" dirty="0"/>
              <a:t>Flexible</a:t>
            </a:r>
            <a:r>
              <a:rPr lang="en-US" dirty="0"/>
              <a:t> program size</a:t>
            </a:r>
          </a:p>
          <a:p>
            <a:pPr marL="0" indent="0" algn="ctr">
              <a:spcAft>
                <a:spcPts val="1200"/>
              </a:spcAft>
              <a:buNone/>
            </a:pPr>
            <a:r>
              <a:rPr lang="en-US" dirty="0"/>
              <a:t>Covering:</a:t>
            </a:r>
          </a:p>
          <a:p>
            <a:pPr marL="285750" indent="-285750" algn="ctr">
              <a:spcAft>
                <a:spcPts val="1200"/>
              </a:spcAft>
            </a:pPr>
            <a:r>
              <a:rPr lang="en-US" dirty="0"/>
              <a:t>Inbound processes</a:t>
            </a:r>
          </a:p>
          <a:p>
            <a:pPr marL="285750" indent="-285750" algn="ctr">
              <a:spcAft>
                <a:spcPts val="1200"/>
              </a:spcAft>
            </a:pPr>
            <a:r>
              <a:rPr lang="en-US" dirty="0"/>
              <a:t>Internal processes</a:t>
            </a:r>
          </a:p>
          <a:p>
            <a:pPr marL="285750" indent="-285750" algn="ctr">
              <a:spcAft>
                <a:spcPts val="1200"/>
              </a:spcAft>
            </a:pPr>
            <a:r>
              <a:rPr lang="en-US" dirty="0"/>
              <a:t>Outbound processes</a:t>
            </a:r>
          </a:p>
          <a:p>
            <a:pPr marL="0" indent="0" algn="ctr">
              <a:spcAft>
                <a:spcPts val="1200"/>
              </a:spcAft>
              <a:buNone/>
            </a:pPr>
            <a:r>
              <a:rPr lang="en-US" dirty="0"/>
              <a:t>Standards about process </a:t>
            </a:r>
            <a:r>
              <a:rPr lang="en-US" b="1" i="1" dirty="0"/>
              <a:t>points</a:t>
            </a:r>
          </a:p>
          <a:p>
            <a:pPr marL="0" indent="0" algn="ctr">
              <a:spcAft>
                <a:spcPts val="1200"/>
              </a:spcAft>
              <a:buNone/>
            </a:pPr>
            <a:r>
              <a:rPr lang="en-US" dirty="0"/>
              <a:t>Not about process </a:t>
            </a:r>
            <a:r>
              <a:rPr lang="en-US" b="1" i="1" dirty="0"/>
              <a:t>content</a:t>
            </a:r>
          </a:p>
        </p:txBody>
      </p:sp>
      <p:pic>
        <p:nvPicPr>
          <p:cNvPr id="10" name="Picture 9" descr="A qr code with a few black squares&#10;&#10;Description automatically generated">
            <a:extLst>
              <a:ext uri="{FF2B5EF4-FFF2-40B4-BE49-F238E27FC236}">
                <a16:creationId xmlns:a16="http://schemas.microsoft.com/office/drawing/2014/main" id="{3F2056C9-2E32-9776-1981-CD6D73B509EC}"/>
              </a:ext>
            </a:extLst>
          </p:cNvPr>
          <p:cNvPicPr>
            <a:picLocks noChangeAspect="1"/>
          </p:cNvPicPr>
          <p:nvPr/>
        </p:nvPicPr>
        <p:blipFill>
          <a:blip r:embed="rId3"/>
          <a:stretch>
            <a:fillRect/>
          </a:stretch>
        </p:blipFill>
        <p:spPr>
          <a:xfrm>
            <a:off x="1120637" y="2197134"/>
            <a:ext cx="1716389" cy="1716389"/>
          </a:xfrm>
          <a:prstGeom prst="rect">
            <a:avLst/>
          </a:prstGeom>
        </p:spPr>
      </p:pic>
      <p:pic>
        <p:nvPicPr>
          <p:cNvPr id="11" name="Picture 10" descr="A qr code with a black and white background&#10;&#10;Description automatically generated">
            <a:extLst>
              <a:ext uri="{FF2B5EF4-FFF2-40B4-BE49-F238E27FC236}">
                <a16:creationId xmlns:a16="http://schemas.microsoft.com/office/drawing/2014/main" id="{0944199F-ECD1-5506-D4E7-CDA9E9CFE703}"/>
              </a:ext>
            </a:extLst>
          </p:cNvPr>
          <p:cNvPicPr>
            <a:picLocks noChangeAspect="1"/>
          </p:cNvPicPr>
          <p:nvPr/>
        </p:nvPicPr>
        <p:blipFill>
          <a:blip r:embed="rId4"/>
          <a:stretch>
            <a:fillRect/>
          </a:stretch>
        </p:blipFill>
        <p:spPr>
          <a:xfrm>
            <a:off x="6306973" y="2197134"/>
            <a:ext cx="1716389" cy="1716389"/>
          </a:xfrm>
          <a:prstGeom prst="rect">
            <a:avLst/>
          </a:prstGeom>
        </p:spPr>
      </p:pic>
      <p:pic>
        <p:nvPicPr>
          <p:cNvPr id="2" name="Picture 1" descr="A person in a suit and tie&#10;&#10;AI-generated content may be incorrect.">
            <a:extLst>
              <a:ext uri="{FF2B5EF4-FFF2-40B4-BE49-F238E27FC236}">
                <a16:creationId xmlns:a16="http://schemas.microsoft.com/office/drawing/2014/main" id="{A7FE0088-86E7-CBF9-635A-FE14EA2C9291}"/>
              </a:ext>
            </a:extLst>
          </p:cNvPr>
          <p:cNvPicPr>
            <a:picLocks noChangeAspect="1"/>
          </p:cNvPicPr>
          <p:nvPr/>
        </p:nvPicPr>
        <p:blipFill>
          <a:blip r:embed="rId5"/>
          <a:stretch>
            <a:fillRect/>
          </a:stretch>
        </p:blipFill>
        <p:spPr>
          <a:xfrm>
            <a:off x="7931820" y="0"/>
            <a:ext cx="1212180" cy="1212180"/>
          </a:xfrm>
          <a:prstGeom prst="rect">
            <a:avLst/>
          </a:prstGeom>
        </p:spPr>
      </p:pic>
      <p:sp>
        <p:nvSpPr>
          <p:cNvPr id="3" name="TextBox 2">
            <a:extLst>
              <a:ext uri="{FF2B5EF4-FFF2-40B4-BE49-F238E27FC236}">
                <a16:creationId xmlns:a16="http://schemas.microsoft.com/office/drawing/2014/main" id="{126628C2-65F3-0863-CFA4-F3F4B764E7EA}"/>
              </a:ext>
            </a:extLst>
          </p:cNvPr>
          <p:cNvSpPr txBox="1"/>
          <p:nvPr/>
        </p:nvSpPr>
        <p:spPr>
          <a:xfrm>
            <a:off x="6218433" y="3931318"/>
            <a:ext cx="1885453" cy="307777"/>
          </a:xfrm>
          <a:prstGeom prst="rect">
            <a:avLst/>
          </a:prstGeom>
          <a:noFill/>
        </p:spPr>
        <p:txBody>
          <a:bodyPr wrap="none" rtlCol="0">
            <a:spAutoFit/>
          </a:bodyPr>
          <a:lstStyle/>
          <a:p>
            <a:r>
              <a:rPr lang="en-US" dirty="0"/>
              <a:t>http://</a:t>
            </a:r>
            <a:r>
              <a:rPr lang="en-US" dirty="0" err="1"/>
              <a:t>bit.ly</a:t>
            </a:r>
            <a:r>
              <a:rPr lang="en-US" dirty="0"/>
              <a:t>/4mbmOd8</a:t>
            </a:r>
            <a:endParaRPr lang="en-JP" dirty="0"/>
          </a:p>
        </p:txBody>
      </p:sp>
      <p:sp>
        <p:nvSpPr>
          <p:cNvPr id="4" name="TextBox 3">
            <a:extLst>
              <a:ext uri="{FF2B5EF4-FFF2-40B4-BE49-F238E27FC236}">
                <a16:creationId xmlns:a16="http://schemas.microsoft.com/office/drawing/2014/main" id="{E9F3EBC2-FBD2-320D-4372-A9B2669E568F}"/>
              </a:ext>
            </a:extLst>
          </p:cNvPr>
          <p:cNvSpPr txBox="1"/>
          <p:nvPr/>
        </p:nvSpPr>
        <p:spPr>
          <a:xfrm>
            <a:off x="1040113" y="3933471"/>
            <a:ext cx="1877437" cy="307777"/>
          </a:xfrm>
          <a:prstGeom prst="rect">
            <a:avLst/>
          </a:prstGeom>
          <a:noFill/>
        </p:spPr>
        <p:txBody>
          <a:bodyPr wrap="none" rtlCol="0">
            <a:spAutoFit/>
          </a:bodyPr>
          <a:lstStyle/>
          <a:p>
            <a:r>
              <a:rPr lang="en-US" dirty="0"/>
              <a:t>https://</a:t>
            </a:r>
            <a:r>
              <a:rPr lang="en-US" dirty="0" err="1"/>
              <a:t>bit.ly</a:t>
            </a:r>
            <a:r>
              <a:rPr lang="en-US" dirty="0"/>
              <a:t>/3JUnEh8</a:t>
            </a:r>
            <a:endParaRPr lang="en-JP" dirty="0"/>
          </a:p>
        </p:txBody>
      </p:sp>
    </p:spTree>
    <p:extLst>
      <p:ext uri="{BB962C8B-B14F-4D97-AF65-F5344CB8AC3E}">
        <p14:creationId xmlns:p14="http://schemas.microsoft.com/office/powerpoint/2010/main" val="1322698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1415A-1739-6B67-BB25-B03696BB3EF3}"/>
              </a:ext>
            </a:extLst>
          </p:cNvPr>
          <p:cNvSpPr>
            <a:spLocks noGrp="1"/>
          </p:cNvSpPr>
          <p:nvPr>
            <p:ph type="title"/>
          </p:nvPr>
        </p:nvSpPr>
        <p:spPr/>
        <p:txBody>
          <a:bodyPr>
            <a:normAutofit fontScale="90000"/>
          </a:bodyPr>
          <a:lstStyle/>
          <a:p>
            <a:r>
              <a:rPr lang="en-JP" dirty="0"/>
              <a:t>Further Development of the Specs</a:t>
            </a:r>
          </a:p>
        </p:txBody>
      </p:sp>
      <p:sp>
        <p:nvSpPr>
          <p:cNvPr id="3" name="Text Placeholder 2">
            <a:extLst>
              <a:ext uri="{FF2B5EF4-FFF2-40B4-BE49-F238E27FC236}">
                <a16:creationId xmlns:a16="http://schemas.microsoft.com/office/drawing/2014/main" id="{F4809B5E-FB4D-31C6-776A-2253EFAD9725}"/>
              </a:ext>
            </a:extLst>
          </p:cNvPr>
          <p:cNvSpPr>
            <a:spLocks noGrp="1"/>
          </p:cNvSpPr>
          <p:nvPr>
            <p:ph type="body" idx="1"/>
          </p:nvPr>
        </p:nvSpPr>
        <p:spPr/>
        <p:txBody>
          <a:bodyPr>
            <a:normAutofit/>
          </a:bodyPr>
          <a:lstStyle/>
          <a:p>
            <a:pPr marL="114300" indent="0">
              <a:buNone/>
            </a:pPr>
            <a:r>
              <a:rPr lang="en-US" dirty="0"/>
              <a:t>On the last call we discussed adjusting our ISO standards for the CRA, and the consensus was that we should try to avoid regional customization, but seek to find commonalities in requirements around the world.</a:t>
            </a:r>
          </a:p>
          <a:p>
            <a:pPr marL="114300" indent="0">
              <a:buNone/>
            </a:pPr>
            <a:endParaRPr lang="en-US" dirty="0"/>
          </a:p>
          <a:p>
            <a:pPr marL="114300" indent="0">
              <a:buNone/>
            </a:pPr>
            <a:r>
              <a:rPr lang="en-US" dirty="0"/>
              <a:t>In practical terms, what does this mean? What types of edits or additions may we need to make between now and December 2026?</a:t>
            </a:r>
          </a:p>
        </p:txBody>
      </p:sp>
      <p:pic>
        <p:nvPicPr>
          <p:cNvPr id="4" name="Picture 3" descr="A person in a suit and tie&#10;&#10;AI-generated content may be incorrect.">
            <a:extLst>
              <a:ext uri="{FF2B5EF4-FFF2-40B4-BE49-F238E27FC236}">
                <a16:creationId xmlns:a16="http://schemas.microsoft.com/office/drawing/2014/main" id="{CCCF66E2-5AF3-F7D9-AE70-25DD3BD54990}"/>
              </a:ext>
            </a:extLst>
          </p:cNvPr>
          <p:cNvPicPr>
            <a:picLocks noChangeAspect="1"/>
          </p:cNvPicPr>
          <p:nvPr/>
        </p:nvPicPr>
        <p:blipFill>
          <a:blip r:embed="rId2"/>
          <a:stretch>
            <a:fillRect/>
          </a:stretch>
        </p:blipFill>
        <p:spPr>
          <a:xfrm>
            <a:off x="7931820" y="0"/>
            <a:ext cx="1212180" cy="1212180"/>
          </a:xfrm>
          <a:prstGeom prst="rect">
            <a:avLst/>
          </a:prstGeom>
        </p:spPr>
      </p:pic>
    </p:spTree>
    <p:extLst>
      <p:ext uri="{BB962C8B-B14F-4D97-AF65-F5344CB8AC3E}">
        <p14:creationId xmlns:p14="http://schemas.microsoft.com/office/powerpoint/2010/main" val="1880277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7F603-BB2F-EF61-CE41-0BF3C3B4A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0D931-24E6-40B4-B359-D199EF50F8A9}"/>
              </a:ext>
            </a:extLst>
          </p:cNvPr>
          <p:cNvSpPr>
            <a:spLocks noGrp="1"/>
          </p:cNvSpPr>
          <p:nvPr>
            <p:ph type="title"/>
          </p:nvPr>
        </p:nvSpPr>
        <p:spPr/>
        <p:txBody>
          <a:bodyPr>
            <a:normAutofit fontScale="90000"/>
          </a:bodyPr>
          <a:lstStyle/>
          <a:p>
            <a:r>
              <a:rPr lang="en-JP" dirty="0"/>
              <a:t>Outcomes of Recent Survey 1/2</a:t>
            </a:r>
          </a:p>
        </p:txBody>
      </p:sp>
      <p:sp>
        <p:nvSpPr>
          <p:cNvPr id="3" name="Text Placeholder 2">
            <a:extLst>
              <a:ext uri="{FF2B5EF4-FFF2-40B4-BE49-F238E27FC236}">
                <a16:creationId xmlns:a16="http://schemas.microsoft.com/office/drawing/2014/main" id="{FADE3019-31C3-8B28-4B68-83B7E61DE117}"/>
              </a:ext>
            </a:extLst>
          </p:cNvPr>
          <p:cNvSpPr>
            <a:spLocks noGrp="1"/>
          </p:cNvSpPr>
          <p:nvPr>
            <p:ph type="body" idx="1"/>
          </p:nvPr>
        </p:nvSpPr>
        <p:spPr>
          <a:xfrm>
            <a:off x="368232" y="1107753"/>
            <a:ext cx="8520600" cy="3339000"/>
          </a:xfrm>
        </p:spPr>
        <p:txBody>
          <a:bodyPr>
            <a:normAutofit/>
          </a:bodyPr>
          <a:lstStyle/>
          <a:p>
            <a:pPr marL="114300" indent="0">
              <a:buNone/>
            </a:pPr>
            <a:r>
              <a:rPr lang="en-US" dirty="0"/>
              <a:t>Limited responses but wide geographic coverage. Interestingly, most responders are not yet adaptors, indicating they are in examination phase:</a:t>
            </a:r>
          </a:p>
        </p:txBody>
      </p:sp>
      <p:pic>
        <p:nvPicPr>
          <p:cNvPr id="4" name="Picture 3" descr="A person in a suit and tie&#10;&#10;AI-generated content may be incorrect.">
            <a:extLst>
              <a:ext uri="{FF2B5EF4-FFF2-40B4-BE49-F238E27FC236}">
                <a16:creationId xmlns:a16="http://schemas.microsoft.com/office/drawing/2014/main" id="{59B1FA41-A430-E8C9-A745-34EE5BA4B466}"/>
              </a:ext>
            </a:extLst>
          </p:cNvPr>
          <p:cNvPicPr>
            <a:picLocks noChangeAspect="1"/>
          </p:cNvPicPr>
          <p:nvPr/>
        </p:nvPicPr>
        <p:blipFill>
          <a:blip r:embed="rId2"/>
          <a:stretch>
            <a:fillRect/>
          </a:stretch>
        </p:blipFill>
        <p:spPr>
          <a:xfrm>
            <a:off x="7931820" y="0"/>
            <a:ext cx="1212180" cy="1212180"/>
          </a:xfrm>
          <a:prstGeom prst="rect">
            <a:avLst/>
          </a:prstGeom>
        </p:spPr>
      </p:pic>
      <p:pic>
        <p:nvPicPr>
          <p:cNvPr id="6" name="Picture 5" descr="A pie chart with different colored sections&#10;&#10;AI-generated content may be incorrect.">
            <a:extLst>
              <a:ext uri="{FF2B5EF4-FFF2-40B4-BE49-F238E27FC236}">
                <a16:creationId xmlns:a16="http://schemas.microsoft.com/office/drawing/2014/main" id="{7BE6802D-E639-FCCB-59E7-2C118F83DDB9}"/>
              </a:ext>
            </a:extLst>
          </p:cNvPr>
          <p:cNvPicPr>
            <a:picLocks noChangeAspect="1"/>
          </p:cNvPicPr>
          <p:nvPr/>
        </p:nvPicPr>
        <p:blipFill>
          <a:blip r:embed="rId3"/>
          <a:stretch>
            <a:fillRect/>
          </a:stretch>
        </p:blipFill>
        <p:spPr>
          <a:xfrm>
            <a:off x="368232" y="1885034"/>
            <a:ext cx="4203768" cy="2482927"/>
          </a:xfrm>
          <a:prstGeom prst="rect">
            <a:avLst/>
          </a:prstGeom>
        </p:spPr>
      </p:pic>
      <p:pic>
        <p:nvPicPr>
          <p:cNvPr id="7" name="Picture 6">
            <a:extLst>
              <a:ext uri="{FF2B5EF4-FFF2-40B4-BE49-F238E27FC236}">
                <a16:creationId xmlns:a16="http://schemas.microsoft.com/office/drawing/2014/main" id="{B52A9598-4340-BBE0-5A70-5D4342FCAF73}"/>
              </a:ext>
            </a:extLst>
          </p:cNvPr>
          <p:cNvPicPr>
            <a:picLocks noChangeAspect="1"/>
          </p:cNvPicPr>
          <p:nvPr/>
        </p:nvPicPr>
        <p:blipFill>
          <a:blip r:embed="rId4"/>
          <a:srcRect/>
          <a:stretch/>
        </p:blipFill>
        <p:spPr>
          <a:xfrm>
            <a:off x="4572000" y="1885034"/>
            <a:ext cx="4436843" cy="2482926"/>
          </a:xfrm>
          <a:prstGeom prst="rect">
            <a:avLst/>
          </a:prstGeom>
        </p:spPr>
      </p:pic>
    </p:spTree>
    <p:extLst>
      <p:ext uri="{BB962C8B-B14F-4D97-AF65-F5344CB8AC3E}">
        <p14:creationId xmlns:p14="http://schemas.microsoft.com/office/powerpoint/2010/main" val="1368170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0F885-1E35-F5DF-63D2-9C49ADE80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91460-ABF9-92B2-63F2-962BAC725A07}"/>
              </a:ext>
            </a:extLst>
          </p:cNvPr>
          <p:cNvSpPr>
            <a:spLocks noGrp="1"/>
          </p:cNvSpPr>
          <p:nvPr>
            <p:ph type="title"/>
          </p:nvPr>
        </p:nvSpPr>
        <p:spPr/>
        <p:txBody>
          <a:bodyPr>
            <a:normAutofit fontScale="90000"/>
          </a:bodyPr>
          <a:lstStyle/>
          <a:p>
            <a:r>
              <a:rPr lang="en-JP" dirty="0"/>
              <a:t>Outcomes of Recent Survey 2/2</a:t>
            </a:r>
          </a:p>
        </p:txBody>
      </p:sp>
      <p:pic>
        <p:nvPicPr>
          <p:cNvPr id="4" name="Picture 3" descr="A person in a suit and tie&#10;&#10;AI-generated content may be incorrect.">
            <a:extLst>
              <a:ext uri="{FF2B5EF4-FFF2-40B4-BE49-F238E27FC236}">
                <a16:creationId xmlns:a16="http://schemas.microsoft.com/office/drawing/2014/main" id="{B18B4E16-8325-D1F9-7594-E8071E3D848E}"/>
              </a:ext>
            </a:extLst>
          </p:cNvPr>
          <p:cNvPicPr>
            <a:picLocks noChangeAspect="1"/>
          </p:cNvPicPr>
          <p:nvPr/>
        </p:nvPicPr>
        <p:blipFill>
          <a:blip r:embed="rId2"/>
          <a:stretch>
            <a:fillRect/>
          </a:stretch>
        </p:blipFill>
        <p:spPr>
          <a:xfrm>
            <a:off x="7931820" y="0"/>
            <a:ext cx="1212180" cy="1212180"/>
          </a:xfrm>
          <a:prstGeom prst="rect">
            <a:avLst/>
          </a:prstGeom>
        </p:spPr>
      </p:pic>
      <p:pic>
        <p:nvPicPr>
          <p:cNvPr id="11" name="Picture 10">
            <a:extLst>
              <a:ext uri="{FF2B5EF4-FFF2-40B4-BE49-F238E27FC236}">
                <a16:creationId xmlns:a16="http://schemas.microsoft.com/office/drawing/2014/main" id="{FCD4066E-C2D7-6802-9B43-ACC35995A274}"/>
              </a:ext>
            </a:extLst>
          </p:cNvPr>
          <p:cNvPicPr>
            <a:picLocks noChangeAspect="1"/>
          </p:cNvPicPr>
          <p:nvPr/>
        </p:nvPicPr>
        <p:blipFill>
          <a:blip r:embed="rId3"/>
          <a:srcRect/>
          <a:stretch/>
        </p:blipFill>
        <p:spPr>
          <a:xfrm>
            <a:off x="180087" y="1017800"/>
            <a:ext cx="3659392" cy="2123438"/>
          </a:xfrm>
          <a:prstGeom prst="rect">
            <a:avLst/>
          </a:prstGeom>
        </p:spPr>
      </p:pic>
      <p:pic>
        <p:nvPicPr>
          <p:cNvPr id="13" name="Picture 12">
            <a:extLst>
              <a:ext uri="{FF2B5EF4-FFF2-40B4-BE49-F238E27FC236}">
                <a16:creationId xmlns:a16="http://schemas.microsoft.com/office/drawing/2014/main" id="{472AA40B-C1CA-5301-5386-ECFEB3AC7601}"/>
              </a:ext>
            </a:extLst>
          </p:cNvPr>
          <p:cNvPicPr>
            <a:picLocks noChangeAspect="1"/>
          </p:cNvPicPr>
          <p:nvPr/>
        </p:nvPicPr>
        <p:blipFill>
          <a:blip r:embed="rId4"/>
          <a:srcRect/>
          <a:stretch/>
        </p:blipFill>
        <p:spPr>
          <a:xfrm>
            <a:off x="184563" y="3084288"/>
            <a:ext cx="3654916" cy="2057215"/>
          </a:xfrm>
          <a:prstGeom prst="rect">
            <a:avLst/>
          </a:prstGeom>
        </p:spPr>
      </p:pic>
      <p:pic>
        <p:nvPicPr>
          <p:cNvPr id="15" name="Picture 14">
            <a:extLst>
              <a:ext uri="{FF2B5EF4-FFF2-40B4-BE49-F238E27FC236}">
                <a16:creationId xmlns:a16="http://schemas.microsoft.com/office/drawing/2014/main" id="{9EFE752C-48D1-97B4-414E-FE5E4FE9C204}"/>
              </a:ext>
            </a:extLst>
          </p:cNvPr>
          <p:cNvPicPr>
            <a:picLocks noChangeAspect="1"/>
          </p:cNvPicPr>
          <p:nvPr/>
        </p:nvPicPr>
        <p:blipFill>
          <a:blip r:embed="rId5"/>
          <a:srcRect/>
          <a:stretch/>
        </p:blipFill>
        <p:spPr>
          <a:xfrm>
            <a:off x="3839477" y="1019859"/>
            <a:ext cx="3536179" cy="2129899"/>
          </a:xfrm>
          <a:prstGeom prst="rect">
            <a:avLst/>
          </a:prstGeom>
        </p:spPr>
      </p:pic>
      <p:pic>
        <p:nvPicPr>
          <p:cNvPr id="17" name="Picture 16">
            <a:extLst>
              <a:ext uri="{FF2B5EF4-FFF2-40B4-BE49-F238E27FC236}">
                <a16:creationId xmlns:a16="http://schemas.microsoft.com/office/drawing/2014/main" id="{2002B6FC-39C3-DD5C-25E6-32F2E08831BE}"/>
              </a:ext>
            </a:extLst>
          </p:cNvPr>
          <p:cNvPicPr>
            <a:picLocks noChangeAspect="1"/>
          </p:cNvPicPr>
          <p:nvPr/>
        </p:nvPicPr>
        <p:blipFill>
          <a:blip r:embed="rId6"/>
          <a:srcRect/>
          <a:stretch/>
        </p:blipFill>
        <p:spPr>
          <a:xfrm>
            <a:off x="3839478" y="3091633"/>
            <a:ext cx="3638355" cy="2051862"/>
          </a:xfrm>
          <a:prstGeom prst="rect">
            <a:avLst/>
          </a:prstGeom>
        </p:spPr>
      </p:pic>
      <p:sp>
        <p:nvSpPr>
          <p:cNvPr id="3" name="Rectangle 2">
            <a:extLst>
              <a:ext uri="{FF2B5EF4-FFF2-40B4-BE49-F238E27FC236}">
                <a16:creationId xmlns:a16="http://schemas.microsoft.com/office/drawing/2014/main" id="{8229F75E-5133-04FA-E2D9-3DE6A91E28AB}"/>
              </a:ext>
            </a:extLst>
          </p:cNvPr>
          <p:cNvSpPr/>
          <p:nvPr/>
        </p:nvSpPr>
        <p:spPr>
          <a:xfrm>
            <a:off x="7837155" y="2640651"/>
            <a:ext cx="189330" cy="188008"/>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 name="Rectangle 4">
            <a:extLst>
              <a:ext uri="{FF2B5EF4-FFF2-40B4-BE49-F238E27FC236}">
                <a16:creationId xmlns:a16="http://schemas.microsoft.com/office/drawing/2014/main" id="{2DA7A57A-48F7-3DDD-3495-167D9E99F8BE}"/>
              </a:ext>
            </a:extLst>
          </p:cNvPr>
          <p:cNvSpPr/>
          <p:nvPr/>
        </p:nvSpPr>
        <p:spPr>
          <a:xfrm>
            <a:off x="7837155" y="2314841"/>
            <a:ext cx="189330" cy="18800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Rectangle 5">
            <a:extLst>
              <a:ext uri="{FF2B5EF4-FFF2-40B4-BE49-F238E27FC236}">
                <a16:creationId xmlns:a16="http://schemas.microsoft.com/office/drawing/2014/main" id="{CA378B3E-C5CB-6AD7-59A4-3D22A57BFBD5}"/>
              </a:ext>
            </a:extLst>
          </p:cNvPr>
          <p:cNvSpPr/>
          <p:nvPr/>
        </p:nvSpPr>
        <p:spPr>
          <a:xfrm>
            <a:off x="7837155" y="1989031"/>
            <a:ext cx="189330" cy="18800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 name="TextBox 6">
            <a:extLst>
              <a:ext uri="{FF2B5EF4-FFF2-40B4-BE49-F238E27FC236}">
                <a16:creationId xmlns:a16="http://schemas.microsoft.com/office/drawing/2014/main" id="{550F5F61-D049-F902-D2CB-4EFFE6BFDD0F}"/>
              </a:ext>
            </a:extLst>
          </p:cNvPr>
          <p:cNvSpPr txBox="1"/>
          <p:nvPr/>
        </p:nvSpPr>
        <p:spPr>
          <a:xfrm>
            <a:off x="8087254" y="1925630"/>
            <a:ext cx="494046" cy="307777"/>
          </a:xfrm>
          <a:prstGeom prst="rect">
            <a:avLst/>
          </a:prstGeom>
          <a:noFill/>
        </p:spPr>
        <p:txBody>
          <a:bodyPr wrap="none" rtlCol="0">
            <a:spAutoFit/>
          </a:bodyPr>
          <a:lstStyle/>
          <a:p>
            <a:r>
              <a:rPr lang="en-JP" dirty="0"/>
              <a:t>Yes</a:t>
            </a:r>
          </a:p>
        </p:txBody>
      </p:sp>
      <p:sp>
        <p:nvSpPr>
          <p:cNvPr id="8" name="TextBox 7">
            <a:extLst>
              <a:ext uri="{FF2B5EF4-FFF2-40B4-BE49-F238E27FC236}">
                <a16:creationId xmlns:a16="http://schemas.microsoft.com/office/drawing/2014/main" id="{7FA8EA4F-50BE-5079-5472-F687A8A0715D}"/>
              </a:ext>
            </a:extLst>
          </p:cNvPr>
          <p:cNvSpPr txBox="1"/>
          <p:nvPr/>
        </p:nvSpPr>
        <p:spPr>
          <a:xfrm>
            <a:off x="8087254" y="2254956"/>
            <a:ext cx="413896" cy="307777"/>
          </a:xfrm>
          <a:prstGeom prst="rect">
            <a:avLst/>
          </a:prstGeom>
          <a:noFill/>
        </p:spPr>
        <p:txBody>
          <a:bodyPr wrap="none" rtlCol="0">
            <a:spAutoFit/>
          </a:bodyPr>
          <a:lstStyle/>
          <a:p>
            <a:r>
              <a:rPr lang="en-JP" dirty="0"/>
              <a:t>No</a:t>
            </a:r>
          </a:p>
        </p:txBody>
      </p:sp>
      <p:sp>
        <p:nvSpPr>
          <p:cNvPr id="9" name="TextBox 8">
            <a:extLst>
              <a:ext uri="{FF2B5EF4-FFF2-40B4-BE49-F238E27FC236}">
                <a16:creationId xmlns:a16="http://schemas.microsoft.com/office/drawing/2014/main" id="{1A0FA401-0BE3-3E43-93B4-7A4F67366E78}"/>
              </a:ext>
            </a:extLst>
          </p:cNvPr>
          <p:cNvSpPr txBox="1"/>
          <p:nvPr/>
        </p:nvSpPr>
        <p:spPr>
          <a:xfrm>
            <a:off x="8087254" y="2580766"/>
            <a:ext cx="484428" cy="307777"/>
          </a:xfrm>
          <a:prstGeom prst="rect">
            <a:avLst/>
          </a:prstGeom>
          <a:noFill/>
        </p:spPr>
        <p:txBody>
          <a:bodyPr wrap="none" rtlCol="0">
            <a:spAutoFit/>
          </a:bodyPr>
          <a:lstStyle/>
          <a:p>
            <a:r>
              <a:rPr lang="en-JP" dirty="0"/>
              <a:t>N/A</a:t>
            </a:r>
          </a:p>
        </p:txBody>
      </p:sp>
    </p:spTree>
    <p:extLst>
      <p:ext uri="{BB962C8B-B14F-4D97-AF65-F5344CB8AC3E}">
        <p14:creationId xmlns:p14="http://schemas.microsoft.com/office/powerpoint/2010/main" val="1009097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Education Work Group</a:t>
            </a:r>
            <a:endParaRPr dirty="0"/>
          </a:p>
        </p:txBody>
      </p:sp>
      <p:pic>
        <p:nvPicPr>
          <p:cNvPr id="2" name="Picture 1">
            <a:extLst>
              <a:ext uri="{FF2B5EF4-FFF2-40B4-BE49-F238E27FC236}">
                <a16:creationId xmlns:a16="http://schemas.microsoft.com/office/drawing/2014/main" id="{93D6512B-4352-C2ED-23BC-2CCA11A590A3}"/>
              </a:ext>
            </a:extLst>
          </p:cNvPr>
          <p:cNvPicPr>
            <a:picLocks noChangeAspect="1"/>
          </p:cNvPicPr>
          <p:nvPr/>
        </p:nvPicPr>
        <p:blipFill>
          <a:blip r:embed="rId3"/>
          <a:srcRect/>
          <a:stretch/>
        </p:blipFill>
        <p:spPr>
          <a:xfrm>
            <a:off x="7931820" y="0"/>
            <a:ext cx="1212180" cy="1212180"/>
          </a:xfrm>
          <a:prstGeom prst="rect">
            <a:avLst/>
          </a:prstGeom>
        </p:spPr>
      </p:pic>
    </p:spTree>
    <p:extLst>
      <p:ext uri="{BB962C8B-B14F-4D97-AF65-F5344CB8AC3E}">
        <p14:creationId xmlns:p14="http://schemas.microsoft.com/office/powerpoint/2010/main" val="2085896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3FAF-AA08-B5ED-E162-53AE0EE19E1F}"/>
              </a:ext>
            </a:extLst>
          </p:cNvPr>
          <p:cNvSpPr>
            <a:spLocks noGrp="1"/>
          </p:cNvSpPr>
          <p:nvPr>
            <p:ph type="title"/>
          </p:nvPr>
        </p:nvSpPr>
        <p:spPr/>
        <p:txBody>
          <a:bodyPr>
            <a:normAutofit fontScale="90000"/>
          </a:bodyPr>
          <a:lstStyle/>
          <a:p>
            <a:r>
              <a:rPr lang="en-JP" dirty="0"/>
              <a:t>Update and Next Steps – Training Material</a:t>
            </a:r>
          </a:p>
        </p:txBody>
      </p:sp>
      <p:sp>
        <p:nvSpPr>
          <p:cNvPr id="3" name="Text Placeholder 2">
            <a:extLst>
              <a:ext uri="{FF2B5EF4-FFF2-40B4-BE49-F238E27FC236}">
                <a16:creationId xmlns:a16="http://schemas.microsoft.com/office/drawing/2014/main" id="{678CC759-90B3-FA4A-8F7F-E44B2B6284F8}"/>
              </a:ext>
            </a:extLst>
          </p:cNvPr>
          <p:cNvSpPr>
            <a:spLocks noGrp="1"/>
          </p:cNvSpPr>
          <p:nvPr>
            <p:ph type="body" idx="1"/>
          </p:nvPr>
        </p:nvSpPr>
        <p:spPr>
          <a:xfrm>
            <a:off x="311700" y="1266450"/>
            <a:ext cx="8520600" cy="3339000"/>
          </a:xfrm>
        </p:spPr>
        <p:txBody>
          <a:bodyPr>
            <a:normAutofit/>
          </a:bodyPr>
          <a:lstStyle/>
          <a:p>
            <a:pPr marL="114300" indent="0">
              <a:buNone/>
            </a:pPr>
            <a:r>
              <a:rPr lang="en-US" dirty="0"/>
              <a:t>Martin has been working on the education material, with a focus on the Quiz questions at the end of each section.</a:t>
            </a:r>
          </a:p>
          <a:p>
            <a:pPr marL="114300" indent="0">
              <a:buNone/>
            </a:pPr>
            <a:endParaRPr lang="en-US" dirty="0"/>
          </a:p>
          <a:p>
            <a:pPr marL="114300" indent="0">
              <a:buNone/>
            </a:pPr>
            <a:r>
              <a:rPr lang="en-US" dirty="0"/>
              <a:t>It is suggested that we take a walk through the current LFC 193 course and discuss opinions / ideas for next steps.</a:t>
            </a:r>
          </a:p>
          <a:p>
            <a:pPr marL="114300" indent="0">
              <a:buNone/>
            </a:pPr>
            <a:endParaRPr lang="en-US" dirty="0"/>
          </a:p>
          <a:p>
            <a:pPr marL="114300" indent="0">
              <a:buNone/>
            </a:pPr>
            <a:r>
              <a:rPr lang="en-US" dirty="0"/>
              <a:t>After the walk-through, if everyone is happy with the current content, we can ask LF Training to update the course.</a:t>
            </a:r>
          </a:p>
        </p:txBody>
      </p:sp>
      <p:pic>
        <p:nvPicPr>
          <p:cNvPr id="4" name="Picture 3">
            <a:extLst>
              <a:ext uri="{FF2B5EF4-FFF2-40B4-BE49-F238E27FC236}">
                <a16:creationId xmlns:a16="http://schemas.microsoft.com/office/drawing/2014/main" id="{C710BFFD-8BE8-DDF7-63F3-89EC8CCCB04B}"/>
              </a:ext>
            </a:extLst>
          </p:cNvPr>
          <p:cNvPicPr>
            <a:picLocks noChangeAspect="1"/>
          </p:cNvPicPr>
          <p:nvPr/>
        </p:nvPicPr>
        <p:blipFill>
          <a:blip r:embed="rId2"/>
          <a:srcRect/>
          <a:stretch/>
        </p:blipFill>
        <p:spPr>
          <a:xfrm>
            <a:off x="7931820" y="0"/>
            <a:ext cx="1212180" cy="1212180"/>
          </a:xfrm>
          <a:prstGeom prst="rect">
            <a:avLst/>
          </a:prstGeom>
        </p:spPr>
      </p:pic>
    </p:spTree>
    <p:extLst>
      <p:ext uri="{BB962C8B-B14F-4D97-AF65-F5344CB8AC3E}">
        <p14:creationId xmlns:p14="http://schemas.microsoft.com/office/powerpoint/2010/main" val="1657136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Any other business?</a:t>
            </a:r>
            <a:endParaRPr dirty="0"/>
          </a:p>
        </p:txBody>
      </p:sp>
    </p:spTree>
    <p:extLst>
      <p:ext uri="{BB962C8B-B14F-4D97-AF65-F5344CB8AC3E}">
        <p14:creationId xmlns:p14="http://schemas.microsoft.com/office/powerpoint/2010/main" val="1756685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Close of meeting</a:t>
            </a:r>
            <a:endParaRPr dirty="0"/>
          </a:p>
        </p:txBody>
      </p:sp>
    </p:spTree>
    <p:extLst>
      <p:ext uri="{BB962C8B-B14F-4D97-AF65-F5344CB8AC3E}">
        <p14:creationId xmlns:p14="http://schemas.microsoft.com/office/powerpoint/2010/main" val="980668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3" name="Text Placeholder 2">
            <a:extLst>
              <a:ext uri="{FF2B5EF4-FFF2-40B4-BE49-F238E27FC236}">
                <a16:creationId xmlns:a16="http://schemas.microsoft.com/office/drawing/2014/main" id="{318B57C4-0EE4-84CC-F4DC-10D170F512D8}"/>
              </a:ext>
            </a:extLst>
          </p:cNvPr>
          <p:cNvSpPr>
            <a:spLocks noGrp="1"/>
          </p:cNvSpPr>
          <p:nvPr>
            <p:ph type="body" idx="1"/>
          </p:nvPr>
        </p:nvSpPr>
        <p:spPr/>
        <p:txBody>
          <a:bodyPr/>
          <a:lstStyle/>
          <a:p>
            <a:r>
              <a:rPr lang="en-JP" dirty="0"/>
              <a:t>See you next time!</a:t>
            </a:r>
          </a:p>
        </p:txBody>
      </p:sp>
    </p:spTree>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3055</TotalTime>
  <Words>539</Words>
  <Application>Microsoft Macintosh PowerPoint</Application>
  <PresentationFormat>On-screen Show (16:9)</PresentationFormat>
  <Paragraphs>59</Paragraphs>
  <Slides>16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Open Sans Medium</vt:lpstr>
      <vt:lpstr>Arial</vt:lpstr>
      <vt:lpstr>Roboto</vt:lpstr>
      <vt:lpstr>Roboto Slab Light</vt:lpstr>
      <vt:lpstr>Linux Foundation EU Theme 2023</vt:lpstr>
      <vt:lpstr>OpenChain Monthly Meeting: Spec, Education + More</vt:lpstr>
      <vt:lpstr>Anti-Trust Policy Notice</vt:lpstr>
      <vt:lpstr>Agenda</vt:lpstr>
      <vt:lpstr>OpenChain Project News</vt:lpstr>
      <vt:lpstr>Main News Item:</vt:lpstr>
      <vt:lpstr>Other Key Project News</vt:lpstr>
      <vt:lpstr>Specification Work Group</vt:lpstr>
      <vt:lpstr>Sister Standards - Processes for Programs</vt:lpstr>
      <vt:lpstr>Further Development of the Specs</vt:lpstr>
      <vt:lpstr>Outcomes of Recent Survey 1/2</vt:lpstr>
      <vt:lpstr>Outcomes of Recent Survey 2/2</vt:lpstr>
      <vt:lpstr>Education Work Group</vt:lpstr>
      <vt:lpstr>Update and Next Steps – Training Material</vt:lpstr>
      <vt:lpstr>Any other business?</vt:lpstr>
      <vt:lpstr>Close of meeting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Shane Coughlan</cp:lastModifiedBy>
  <cp:revision>87</cp:revision>
  <dcterms:modified xsi:type="dcterms:W3CDTF">2025-11-18T06:06:20Z</dcterms:modified>
</cp:coreProperties>
</file>